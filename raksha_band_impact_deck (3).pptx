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2A3D63"/>
          </a:solidFill>
          <a:ln/>
        </p:spPr>
      </p:sp>
      <p:sp>
        <p:nvSpPr>
          <p:cNvPr id="3" name="Shape 1"/>
          <p:cNvSpPr/>
          <p:nvPr/>
        </p:nvSpPr>
        <p:spPr>
          <a:xfrm>
            <a:off x="10607040" y="-457200"/>
            <a:ext cx="2377440" cy="2377440"/>
          </a:xfrm>
          <a:prstGeom prst="ellipse">
            <a:avLst/>
          </a:prstGeom>
          <a:solidFill>
            <a:srgbClr val="E8593C">
              <a:alpha val="85000"/>
            </a:srgbClr>
          </a:solidFill>
          <a:ln/>
        </p:spPr>
      </p:sp>
      <p:sp>
        <p:nvSpPr>
          <p:cNvPr id="4" name="Text 2"/>
          <p:cNvSpPr/>
          <p:nvPr/>
        </p:nvSpPr>
        <p:spPr>
          <a:xfrm>
            <a:off x="731520" y="2011680"/>
            <a:ext cx="8686800" cy="914400"/>
          </a:xfrm>
          <a:prstGeom prst="rect">
            <a:avLst/>
          </a:prstGeom>
          <a:noFill/>
          <a:ln/>
        </p:spPr>
        <p:txBody>
          <a:bodyPr wrap="square" rtlCol="0" anchor="ctr"/>
          <a:lstStyle/>
          <a:p>
            <a:pPr indent="0" marL="0">
              <a:buNone/>
            </a:pPr>
            <a:r>
              <a:rPr lang="en-US" sz="4800" b="1" spc="200" kern="0" dirty="0">
                <a:solidFill>
                  <a:srgbClr val="FFFFFF"/>
                </a:solidFill>
                <a:latin typeface="Cambria" pitchFamily="34" charset="0"/>
                <a:ea typeface="Cambria" pitchFamily="34" charset="-122"/>
                <a:cs typeface="Cambria" pitchFamily="34" charset="-120"/>
              </a:rPr>
              <a:t>RAKSHA BAND</a:t>
            </a:r>
            <a:endParaRPr lang="en-US" sz="4800" dirty="0"/>
          </a:p>
        </p:txBody>
      </p:sp>
      <p:sp>
        <p:nvSpPr>
          <p:cNvPr id="5" name="Text 3"/>
          <p:cNvSpPr/>
          <p:nvPr/>
        </p:nvSpPr>
        <p:spPr>
          <a:xfrm>
            <a:off x="777240" y="2971800"/>
            <a:ext cx="8686800" cy="548640"/>
          </a:xfrm>
          <a:prstGeom prst="rect">
            <a:avLst/>
          </a:prstGeom>
          <a:noFill/>
          <a:ln/>
        </p:spPr>
        <p:txBody>
          <a:bodyPr wrap="square" rtlCol="0" anchor="ctr"/>
          <a:lstStyle/>
          <a:p>
            <a:pPr indent="0" marL="0">
              <a:buNone/>
            </a:pPr>
            <a:r>
              <a:rPr lang="en-US" sz="1700" i="1" dirty="0">
                <a:solidFill>
                  <a:srgbClr val="E9EDF5"/>
                </a:solidFill>
                <a:latin typeface="Calibri" pitchFamily="34" charset="0"/>
                <a:ea typeface="Calibri" pitchFamily="34" charset="-122"/>
                <a:cs typeface="Calibri" pitchFamily="34" charset="-120"/>
              </a:rPr>
              <a:t>Acoustic AI safety bracelet — protection that acts before anyone can press a button</a:t>
            </a:r>
            <a:endParaRPr lang="en-US" sz="1700" dirty="0"/>
          </a:p>
        </p:txBody>
      </p:sp>
      <p:sp>
        <p:nvSpPr>
          <p:cNvPr id="6" name="Shape 4"/>
          <p:cNvSpPr/>
          <p:nvPr/>
        </p:nvSpPr>
        <p:spPr>
          <a:xfrm>
            <a:off x="777240" y="3703320"/>
            <a:ext cx="502920" cy="54864"/>
          </a:xfrm>
          <a:prstGeom prst="rect">
            <a:avLst/>
          </a:prstGeom>
          <a:solidFill>
            <a:srgbClr val="E8593C"/>
          </a:solidFill>
          <a:ln/>
        </p:spPr>
      </p:sp>
      <p:sp>
        <p:nvSpPr>
          <p:cNvPr id="7" name="Text 5"/>
          <p:cNvSpPr/>
          <p:nvPr/>
        </p:nvSpPr>
        <p:spPr>
          <a:xfrm>
            <a:off x="777240" y="3977640"/>
            <a:ext cx="914400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Over 50 crimes against women reported every hour in India</a:t>
            </a:r>
            <a:endParaRPr lang="en-US" sz="1350" dirty="0"/>
          </a:p>
        </p:txBody>
      </p:sp>
      <p:sp>
        <p:nvSpPr>
          <p:cNvPr id="8" name="Text 6"/>
          <p:cNvSpPr/>
          <p:nvPr/>
        </p:nvSpPr>
        <p:spPr>
          <a:xfrm>
            <a:off x="777240" y="4315968"/>
            <a:ext cx="5486400" cy="274320"/>
          </a:xfrm>
          <a:prstGeom prst="rect">
            <a:avLst/>
          </a:prstGeom>
          <a:noFill/>
          <a:ln/>
        </p:spPr>
        <p:txBody>
          <a:bodyPr wrap="square" rtlCol="0" anchor="ctr"/>
          <a:lstStyle/>
          <a:p>
            <a:pPr indent="0" marL="0">
              <a:buNone/>
            </a:pPr>
            <a:r>
              <a:rPr lang="en-US" sz="900" i="1" dirty="0">
                <a:solidFill>
                  <a:srgbClr val="5C6B85"/>
                </a:solidFill>
                <a:latin typeface="Calibri" pitchFamily="34" charset="0"/>
                <a:ea typeface="Calibri" pitchFamily="34" charset="-122"/>
                <a:cs typeface="Calibri" pitchFamily="34" charset="-120"/>
              </a:rPr>
              <a:t>Source: NCRB Crime in India 2023 report</a:t>
            </a:r>
            <a:endParaRPr lang="en-US" sz="900" dirty="0"/>
          </a:p>
        </p:txBody>
      </p:sp>
      <p:sp>
        <p:nvSpPr>
          <p:cNvPr id="9" name="Text 7"/>
          <p:cNvSpPr/>
          <p:nvPr/>
        </p:nvSpPr>
        <p:spPr>
          <a:xfrm>
            <a:off x="777240" y="6263640"/>
            <a:ext cx="4572000" cy="320040"/>
          </a:xfrm>
          <a:prstGeom prst="rect">
            <a:avLst/>
          </a:prstGeom>
          <a:noFill/>
          <a:ln/>
        </p:spPr>
        <p:txBody>
          <a:bodyPr wrap="square" rtlCol="0" anchor="ctr"/>
          <a:lstStyle/>
          <a:p>
            <a:pPr indent="0" marL="0">
              <a:buNone/>
            </a:pPr>
            <a:r>
              <a:rPr lang="en-US" sz="1100" dirty="0">
                <a:solidFill>
                  <a:srgbClr val="5C6B85"/>
                </a:solidFill>
                <a:latin typeface="Calibri" pitchFamily="34" charset="0"/>
                <a:ea typeface="Calibri" pitchFamily="34" charset="-122"/>
                <a:cs typeface="Calibri" pitchFamily="34" charset="-120"/>
              </a:rPr>
              <a:t>Technical &amp; impact pitch — Srijan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This is not a small problem</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India, NCRB Crime in India 2023 report</a:t>
            </a:r>
            <a:endParaRPr lang="en-US" sz="1250" dirty="0"/>
          </a:p>
        </p:txBody>
      </p:sp>
      <p:sp>
        <p:nvSpPr>
          <p:cNvPr id="4" name="Shape 2"/>
          <p:cNvSpPr/>
          <p:nvPr/>
        </p:nvSpPr>
        <p:spPr>
          <a:xfrm>
            <a:off x="548640" y="1600200"/>
            <a:ext cx="2606040" cy="2926080"/>
          </a:xfrm>
          <a:prstGeom prst="roundRect">
            <a:avLst>
              <a:gd name="adj" fmla="val 4211"/>
            </a:avLst>
          </a:prstGeom>
          <a:solidFill>
            <a:srgbClr val="E9EDF5"/>
          </a:solidFill>
          <a:ln/>
        </p:spPr>
      </p:sp>
      <p:sp>
        <p:nvSpPr>
          <p:cNvPr id="5" name="Text 3"/>
          <p:cNvSpPr/>
          <p:nvPr/>
        </p:nvSpPr>
        <p:spPr>
          <a:xfrm>
            <a:off x="731520" y="1874520"/>
            <a:ext cx="2240280" cy="731520"/>
          </a:xfrm>
          <a:prstGeom prst="rect">
            <a:avLst/>
          </a:prstGeom>
          <a:noFill/>
          <a:ln/>
        </p:spPr>
        <p:txBody>
          <a:bodyPr wrap="square" rtlCol="0" anchor="ctr"/>
          <a:lstStyle/>
          <a:p>
            <a:pPr indent="0" marL="0">
              <a:buNone/>
            </a:pPr>
            <a:r>
              <a:rPr lang="en-US" sz="2700" b="1" dirty="0">
                <a:solidFill>
                  <a:srgbClr val="E8593C"/>
                </a:solidFill>
                <a:latin typeface="Cambria" pitchFamily="34" charset="0"/>
                <a:ea typeface="Cambria" pitchFamily="34" charset="-122"/>
                <a:cs typeface="Cambria" pitchFamily="34" charset="-120"/>
              </a:rPr>
              <a:t>4,48,211</a:t>
            </a:r>
            <a:endParaRPr lang="en-US" sz="2700" dirty="0"/>
          </a:p>
        </p:txBody>
      </p:sp>
      <p:sp>
        <p:nvSpPr>
          <p:cNvPr id="6" name="Text 4"/>
          <p:cNvSpPr/>
          <p:nvPr/>
        </p:nvSpPr>
        <p:spPr>
          <a:xfrm>
            <a:off x="731520" y="2743200"/>
            <a:ext cx="2240280" cy="160020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Crimes against women reported in 2023 — up from 4,45,256 in 2022</a:t>
            </a:r>
            <a:endParaRPr lang="en-US" sz="1150" dirty="0"/>
          </a:p>
        </p:txBody>
      </p:sp>
      <p:sp>
        <p:nvSpPr>
          <p:cNvPr id="7" name="Shape 5"/>
          <p:cNvSpPr/>
          <p:nvPr/>
        </p:nvSpPr>
        <p:spPr>
          <a:xfrm>
            <a:off x="3410712" y="1600200"/>
            <a:ext cx="2606040" cy="2926080"/>
          </a:xfrm>
          <a:prstGeom prst="roundRect">
            <a:avLst>
              <a:gd name="adj" fmla="val 4211"/>
            </a:avLst>
          </a:prstGeom>
          <a:solidFill>
            <a:srgbClr val="E9EDF5"/>
          </a:solidFill>
          <a:ln/>
        </p:spPr>
      </p:sp>
      <p:sp>
        <p:nvSpPr>
          <p:cNvPr id="8" name="Text 6"/>
          <p:cNvSpPr/>
          <p:nvPr/>
        </p:nvSpPr>
        <p:spPr>
          <a:xfrm>
            <a:off x="3593592" y="1874520"/>
            <a:ext cx="2240280" cy="731520"/>
          </a:xfrm>
          <a:prstGeom prst="rect">
            <a:avLst/>
          </a:prstGeom>
          <a:noFill/>
          <a:ln/>
        </p:spPr>
        <p:txBody>
          <a:bodyPr wrap="square" rtlCol="0" anchor="ctr"/>
          <a:lstStyle/>
          <a:p>
            <a:pPr indent="0" marL="0">
              <a:buNone/>
            </a:pPr>
            <a:r>
              <a:rPr lang="en-US" sz="2700" b="1" dirty="0">
                <a:solidFill>
                  <a:srgbClr val="E8593C"/>
                </a:solidFill>
                <a:latin typeface="Cambria" pitchFamily="34" charset="0"/>
                <a:ea typeface="Cambria" pitchFamily="34" charset="-122"/>
                <a:cs typeface="Cambria" pitchFamily="34" charset="-120"/>
              </a:rPr>
              <a:t>51+</a:t>
            </a:r>
            <a:endParaRPr lang="en-US" sz="2700" dirty="0"/>
          </a:p>
        </p:txBody>
      </p:sp>
      <p:sp>
        <p:nvSpPr>
          <p:cNvPr id="9" name="Text 7"/>
          <p:cNvSpPr/>
          <p:nvPr/>
        </p:nvSpPr>
        <p:spPr>
          <a:xfrm>
            <a:off x="3593592" y="2743200"/>
            <a:ext cx="2240280" cy="160020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Reported cases every hour across the country, on average</a:t>
            </a:r>
            <a:endParaRPr lang="en-US" sz="1150" dirty="0"/>
          </a:p>
        </p:txBody>
      </p:sp>
      <p:sp>
        <p:nvSpPr>
          <p:cNvPr id="10" name="Shape 8"/>
          <p:cNvSpPr/>
          <p:nvPr/>
        </p:nvSpPr>
        <p:spPr>
          <a:xfrm>
            <a:off x="6272784" y="1600200"/>
            <a:ext cx="2606040" cy="2926080"/>
          </a:xfrm>
          <a:prstGeom prst="roundRect">
            <a:avLst>
              <a:gd name="adj" fmla="val 4211"/>
            </a:avLst>
          </a:prstGeom>
          <a:solidFill>
            <a:srgbClr val="E9EDF5"/>
          </a:solidFill>
          <a:ln/>
        </p:spPr>
      </p:sp>
      <p:sp>
        <p:nvSpPr>
          <p:cNvPr id="11" name="Text 9"/>
          <p:cNvSpPr/>
          <p:nvPr/>
        </p:nvSpPr>
        <p:spPr>
          <a:xfrm>
            <a:off x="6455664" y="1874520"/>
            <a:ext cx="2240280" cy="731520"/>
          </a:xfrm>
          <a:prstGeom prst="rect">
            <a:avLst/>
          </a:prstGeom>
          <a:noFill/>
          <a:ln/>
        </p:spPr>
        <p:txBody>
          <a:bodyPr wrap="square" rtlCol="0" anchor="ctr"/>
          <a:lstStyle/>
          <a:p>
            <a:pPr indent="0" marL="0">
              <a:buNone/>
            </a:pPr>
            <a:r>
              <a:rPr lang="en-US" sz="2700" b="1" dirty="0">
                <a:solidFill>
                  <a:srgbClr val="E8593C"/>
                </a:solidFill>
                <a:latin typeface="Cambria" pitchFamily="34" charset="0"/>
                <a:ea typeface="Cambria" pitchFamily="34" charset="-122"/>
                <a:cs typeface="Cambria" pitchFamily="34" charset="-120"/>
              </a:rPr>
              <a:t>66.2</a:t>
            </a:r>
            <a:endParaRPr lang="en-US" sz="2700" dirty="0"/>
          </a:p>
        </p:txBody>
      </p:sp>
      <p:sp>
        <p:nvSpPr>
          <p:cNvPr id="12" name="Text 10"/>
          <p:cNvSpPr/>
          <p:nvPr/>
        </p:nvSpPr>
        <p:spPr>
          <a:xfrm>
            <a:off x="6455664" y="2743200"/>
            <a:ext cx="2240280" cy="160020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Cases per 1 lakh female population — the national crime rate</a:t>
            </a:r>
            <a:endParaRPr lang="en-US" sz="1150" dirty="0"/>
          </a:p>
        </p:txBody>
      </p:sp>
      <p:sp>
        <p:nvSpPr>
          <p:cNvPr id="13" name="Shape 11"/>
          <p:cNvSpPr/>
          <p:nvPr/>
        </p:nvSpPr>
        <p:spPr>
          <a:xfrm>
            <a:off x="9134856" y="1600200"/>
            <a:ext cx="2606040" cy="2926080"/>
          </a:xfrm>
          <a:prstGeom prst="roundRect">
            <a:avLst>
              <a:gd name="adj" fmla="val 4211"/>
            </a:avLst>
          </a:prstGeom>
          <a:solidFill>
            <a:srgbClr val="E9EDF5"/>
          </a:solidFill>
          <a:ln/>
        </p:spPr>
      </p:sp>
      <p:sp>
        <p:nvSpPr>
          <p:cNvPr id="14" name="Text 12"/>
          <p:cNvSpPr/>
          <p:nvPr/>
        </p:nvSpPr>
        <p:spPr>
          <a:xfrm>
            <a:off x="9317736" y="1874520"/>
            <a:ext cx="2240280" cy="731520"/>
          </a:xfrm>
          <a:prstGeom prst="rect">
            <a:avLst/>
          </a:prstGeom>
          <a:noFill/>
          <a:ln/>
        </p:spPr>
        <p:txBody>
          <a:bodyPr wrap="square" rtlCol="0" anchor="ctr"/>
          <a:lstStyle/>
          <a:p>
            <a:pPr indent="0" marL="0">
              <a:buNone/>
            </a:pPr>
            <a:r>
              <a:rPr lang="en-US" sz="2700" b="1" dirty="0">
                <a:solidFill>
                  <a:srgbClr val="E8593C"/>
                </a:solidFill>
                <a:latin typeface="Cambria" pitchFamily="34" charset="0"/>
                <a:ea typeface="Cambria" pitchFamily="34" charset="-122"/>
                <a:cs typeface="Cambria" pitchFamily="34" charset="-120"/>
              </a:rPr>
              <a:t>90.8%</a:t>
            </a:r>
            <a:endParaRPr lang="en-US" sz="2700" dirty="0"/>
          </a:p>
        </p:txBody>
      </p:sp>
      <p:sp>
        <p:nvSpPr>
          <p:cNvPr id="15" name="Text 13"/>
          <p:cNvSpPr/>
          <p:nvPr/>
        </p:nvSpPr>
        <p:spPr>
          <a:xfrm>
            <a:off x="9317736" y="2743200"/>
            <a:ext cx="2240280" cy="160020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Of court cases from these reports are still pending trial</a:t>
            </a:r>
            <a:endParaRPr lang="en-US" sz="1150" dirty="0"/>
          </a:p>
        </p:txBody>
      </p:sp>
      <p:sp>
        <p:nvSpPr>
          <p:cNvPr id="16" name="Shape 14"/>
          <p:cNvSpPr/>
          <p:nvPr/>
        </p:nvSpPr>
        <p:spPr>
          <a:xfrm>
            <a:off x="548640" y="4800600"/>
            <a:ext cx="10881360" cy="1234440"/>
          </a:xfrm>
          <a:prstGeom prst="roundRect">
            <a:avLst>
              <a:gd name="adj" fmla="val 8889"/>
            </a:avLst>
          </a:prstGeom>
          <a:solidFill>
            <a:srgbClr val="1B2A4A"/>
          </a:solidFill>
          <a:ln/>
        </p:spPr>
      </p:sp>
      <p:sp>
        <p:nvSpPr>
          <p:cNvPr id="17" name="Text 15"/>
          <p:cNvSpPr/>
          <p:nvPr/>
        </p:nvSpPr>
        <p:spPr>
          <a:xfrm>
            <a:off x="822960" y="4937760"/>
            <a:ext cx="10332720" cy="960120"/>
          </a:xfrm>
          <a:prstGeom prst="rect">
            <a:avLst/>
          </a:prstGeom>
          <a:noFill/>
          <a:ln/>
        </p:spPr>
        <p:txBody>
          <a:bodyPr wrap="square" rtlCol="0" anchor="ctr"/>
          <a:lstStyle/>
          <a:p>
            <a:pPr indent="0" marL="0">
              <a:lnSpc>
                <a:spcPct val="130000"/>
              </a:lnSpc>
              <a:buNone/>
            </a:pPr>
            <a:r>
              <a:rPr lang="en-US" sz="1300" i="1" dirty="0">
                <a:solidFill>
                  <a:srgbClr val="FFFFFF"/>
                </a:solidFill>
                <a:latin typeface="Calibri" pitchFamily="34" charset="0"/>
                <a:ea typeface="Calibri" pitchFamily="34" charset="-122"/>
                <a:cs typeface="Calibri" pitchFamily="34" charset="-120"/>
              </a:rPr>
              <a:t>The justice system responds after the fact. Nearly a quarter-million cases are still awaiting trial from prior years — which is exactly why the moment of the incident itself, not the legal aftermath, is where a wearable device can make the most immediate difference.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Personal safety devices fail at the exact moment they're needed</a:t>
            </a:r>
            <a:endParaRPr lang="en-US" sz="2600" dirty="0"/>
          </a:p>
        </p:txBody>
      </p:sp>
      <p:sp>
        <p:nvSpPr>
          <p:cNvPr id="3" name="Shape 1"/>
          <p:cNvSpPr/>
          <p:nvPr/>
        </p:nvSpPr>
        <p:spPr>
          <a:xfrm>
            <a:off x="548640" y="1600200"/>
            <a:ext cx="2606040" cy="4206240"/>
          </a:xfrm>
          <a:prstGeom prst="roundRect">
            <a:avLst>
              <a:gd name="adj" fmla="val 4211"/>
            </a:avLst>
          </a:prstGeom>
          <a:solidFill>
            <a:srgbClr val="E9EDF5"/>
          </a:solidFill>
          <a:ln/>
        </p:spPr>
      </p:sp>
      <p:sp>
        <p:nvSpPr>
          <p:cNvPr id="4" name="Text 2"/>
          <p:cNvSpPr/>
          <p:nvPr/>
        </p:nvSpPr>
        <p:spPr>
          <a:xfrm>
            <a:off x="749808" y="1828800"/>
            <a:ext cx="1371600" cy="548640"/>
          </a:xfrm>
          <a:prstGeom prst="rect">
            <a:avLst/>
          </a:prstGeom>
          <a:noFill/>
          <a:ln/>
        </p:spPr>
        <p:txBody>
          <a:bodyPr wrap="square" rtlCol="0" anchor="ctr"/>
          <a:lstStyle/>
          <a:p>
            <a:pPr indent="0" marL="0">
              <a:buNone/>
            </a:pPr>
            <a:r>
              <a:rPr lang="en-US" sz="2600" b="1" dirty="0">
                <a:solidFill>
                  <a:srgbClr val="E8593C"/>
                </a:solidFill>
                <a:latin typeface="Cambria" pitchFamily="34" charset="0"/>
                <a:ea typeface="Cambria" pitchFamily="34" charset="-122"/>
                <a:cs typeface="Cambria" pitchFamily="34" charset="-120"/>
              </a:rPr>
              <a:t>01</a:t>
            </a:r>
            <a:endParaRPr lang="en-US" sz="2600" dirty="0"/>
          </a:p>
        </p:txBody>
      </p:sp>
      <p:sp>
        <p:nvSpPr>
          <p:cNvPr id="5" name="Text 3"/>
          <p:cNvSpPr/>
          <p:nvPr/>
        </p:nvSpPr>
        <p:spPr>
          <a:xfrm>
            <a:off x="749808" y="2514600"/>
            <a:ext cx="2203704" cy="1005840"/>
          </a:xfrm>
          <a:prstGeom prst="rect">
            <a:avLst/>
          </a:prstGeom>
          <a:noFill/>
          <a:ln/>
        </p:spPr>
        <p:txBody>
          <a:bodyPr wrap="square"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Requires a calm, deliberate action</a:t>
            </a:r>
            <a:endParaRPr lang="en-US" sz="1500" dirty="0"/>
          </a:p>
        </p:txBody>
      </p:sp>
      <p:sp>
        <p:nvSpPr>
          <p:cNvPr id="6" name="Text 4"/>
          <p:cNvSpPr/>
          <p:nvPr/>
        </p:nvSpPr>
        <p:spPr>
          <a:xfrm>
            <a:off x="749808" y="3566160"/>
            <a:ext cx="2203704" cy="201168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Most panic buttons need a steady press — but panic makes fine motor control unreliable.</a:t>
            </a:r>
            <a:endParaRPr lang="en-US" sz="1150" dirty="0"/>
          </a:p>
        </p:txBody>
      </p:sp>
      <p:sp>
        <p:nvSpPr>
          <p:cNvPr id="7" name="Shape 5"/>
          <p:cNvSpPr/>
          <p:nvPr/>
        </p:nvSpPr>
        <p:spPr>
          <a:xfrm>
            <a:off x="3410712" y="1600200"/>
            <a:ext cx="2606040" cy="4206240"/>
          </a:xfrm>
          <a:prstGeom prst="roundRect">
            <a:avLst>
              <a:gd name="adj" fmla="val 4211"/>
            </a:avLst>
          </a:prstGeom>
          <a:solidFill>
            <a:srgbClr val="E9EDF5"/>
          </a:solidFill>
          <a:ln/>
        </p:spPr>
      </p:sp>
      <p:sp>
        <p:nvSpPr>
          <p:cNvPr id="8" name="Text 6"/>
          <p:cNvSpPr/>
          <p:nvPr/>
        </p:nvSpPr>
        <p:spPr>
          <a:xfrm>
            <a:off x="3611880" y="1828800"/>
            <a:ext cx="1371600" cy="548640"/>
          </a:xfrm>
          <a:prstGeom prst="rect">
            <a:avLst/>
          </a:prstGeom>
          <a:noFill/>
          <a:ln/>
        </p:spPr>
        <p:txBody>
          <a:bodyPr wrap="square" rtlCol="0" anchor="ctr"/>
          <a:lstStyle/>
          <a:p>
            <a:pPr indent="0" marL="0">
              <a:buNone/>
            </a:pPr>
            <a:r>
              <a:rPr lang="en-US" sz="2600" b="1" dirty="0">
                <a:solidFill>
                  <a:srgbClr val="E8593C"/>
                </a:solidFill>
                <a:latin typeface="Cambria" pitchFamily="34" charset="0"/>
                <a:ea typeface="Cambria" pitchFamily="34" charset="-122"/>
                <a:cs typeface="Cambria" pitchFamily="34" charset="-120"/>
              </a:rPr>
              <a:t>02</a:t>
            </a:r>
            <a:endParaRPr lang="en-US" sz="2600" dirty="0"/>
          </a:p>
        </p:txBody>
      </p:sp>
      <p:sp>
        <p:nvSpPr>
          <p:cNvPr id="9" name="Text 7"/>
          <p:cNvSpPr/>
          <p:nvPr/>
        </p:nvSpPr>
        <p:spPr>
          <a:xfrm>
            <a:off x="3611880" y="2514600"/>
            <a:ext cx="2203704" cy="1005840"/>
          </a:xfrm>
          <a:prstGeom prst="rect">
            <a:avLst/>
          </a:prstGeom>
          <a:noFill/>
          <a:ln/>
        </p:spPr>
        <p:txBody>
          <a:bodyPr wrap="square"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Assumes a paired smartphone</a:t>
            </a:r>
            <a:endParaRPr lang="en-US" sz="1500" dirty="0"/>
          </a:p>
        </p:txBody>
      </p:sp>
      <p:sp>
        <p:nvSpPr>
          <p:cNvPr id="10" name="Text 8"/>
          <p:cNvSpPr/>
          <p:nvPr/>
        </p:nvSpPr>
        <p:spPr>
          <a:xfrm>
            <a:off x="3611880" y="3566160"/>
            <a:ext cx="2203704" cy="201168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App-based alarms are useless if the phone is dead, left behind, or the app isn't open.</a:t>
            </a:r>
            <a:endParaRPr lang="en-US" sz="1150" dirty="0"/>
          </a:p>
        </p:txBody>
      </p:sp>
      <p:sp>
        <p:nvSpPr>
          <p:cNvPr id="11" name="Shape 9"/>
          <p:cNvSpPr/>
          <p:nvPr/>
        </p:nvSpPr>
        <p:spPr>
          <a:xfrm>
            <a:off x="6272784" y="1600200"/>
            <a:ext cx="2606040" cy="4206240"/>
          </a:xfrm>
          <a:prstGeom prst="roundRect">
            <a:avLst>
              <a:gd name="adj" fmla="val 4211"/>
            </a:avLst>
          </a:prstGeom>
          <a:solidFill>
            <a:srgbClr val="E9EDF5"/>
          </a:solidFill>
          <a:ln/>
        </p:spPr>
      </p:sp>
      <p:sp>
        <p:nvSpPr>
          <p:cNvPr id="12" name="Text 10"/>
          <p:cNvSpPr/>
          <p:nvPr/>
        </p:nvSpPr>
        <p:spPr>
          <a:xfrm>
            <a:off x="6473952" y="1828800"/>
            <a:ext cx="1371600" cy="548640"/>
          </a:xfrm>
          <a:prstGeom prst="rect">
            <a:avLst/>
          </a:prstGeom>
          <a:noFill/>
          <a:ln/>
        </p:spPr>
        <p:txBody>
          <a:bodyPr wrap="square" rtlCol="0" anchor="ctr"/>
          <a:lstStyle/>
          <a:p>
            <a:pPr indent="0" marL="0">
              <a:buNone/>
            </a:pPr>
            <a:r>
              <a:rPr lang="en-US" sz="2600" b="1" dirty="0">
                <a:solidFill>
                  <a:srgbClr val="E8593C"/>
                </a:solidFill>
                <a:latin typeface="Cambria" pitchFamily="34" charset="0"/>
                <a:ea typeface="Cambria" pitchFamily="34" charset="-122"/>
                <a:cs typeface="Cambria" pitchFamily="34" charset="-120"/>
              </a:rPr>
              <a:t>03</a:t>
            </a:r>
            <a:endParaRPr lang="en-US" sz="2600" dirty="0"/>
          </a:p>
        </p:txBody>
      </p:sp>
      <p:sp>
        <p:nvSpPr>
          <p:cNvPr id="13" name="Text 11"/>
          <p:cNvSpPr/>
          <p:nvPr/>
        </p:nvSpPr>
        <p:spPr>
          <a:xfrm>
            <a:off x="6473952" y="2514600"/>
            <a:ext cx="2203704" cy="1005840"/>
          </a:xfrm>
          <a:prstGeom prst="rect">
            <a:avLst/>
          </a:prstGeom>
          <a:noFill/>
          <a:ln/>
        </p:spPr>
        <p:txBody>
          <a:bodyPr wrap="square"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Not built for children</a:t>
            </a:r>
            <a:endParaRPr lang="en-US" sz="1500" dirty="0"/>
          </a:p>
        </p:txBody>
      </p:sp>
      <p:sp>
        <p:nvSpPr>
          <p:cNvPr id="14" name="Text 12"/>
          <p:cNvSpPr/>
          <p:nvPr/>
        </p:nvSpPr>
        <p:spPr>
          <a:xfrm>
            <a:off x="6473952" y="3566160"/>
            <a:ext cx="2203704" cy="201168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Kids won't reliably operate multi-step apps or remember to press a hidden button.</a:t>
            </a:r>
            <a:endParaRPr lang="en-US" sz="1150" dirty="0"/>
          </a:p>
        </p:txBody>
      </p:sp>
      <p:sp>
        <p:nvSpPr>
          <p:cNvPr id="15" name="Shape 13"/>
          <p:cNvSpPr/>
          <p:nvPr/>
        </p:nvSpPr>
        <p:spPr>
          <a:xfrm>
            <a:off x="9134856" y="1600200"/>
            <a:ext cx="2606040" cy="4206240"/>
          </a:xfrm>
          <a:prstGeom prst="roundRect">
            <a:avLst>
              <a:gd name="adj" fmla="val 4211"/>
            </a:avLst>
          </a:prstGeom>
          <a:solidFill>
            <a:srgbClr val="E9EDF5"/>
          </a:solidFill>
          <a:ln/>
        </p:spPr>
      </p:sp>
      <p:sp>
        <p:nvSpPr>
          <p:cNvPr id="16" name="Text 14"/>
          <p:cNvSpPr/>
          <p:nvPr/>
        </p:nvSpPr>
        <p:spPr>
          <a:xfrm>
            <a:off x="9336024" y="1828800"/>
            <a:ext cx="1371600" cy="548640"/>
          </a:xfrm>
          <a:prstGeom prst="rect">
            <a:avLst/>
          </a:prstGeom>
          <a:noFill/>
          <a:ln/>
        </p:spPr>
        <p:txBody>
          <a:bodyPr wrap="square" rtlCol="0" anchor="ctr"/>
          <a:lstStyle/>
          <a:p>
            <a:pPr indent="0" marL="0">
              <a:buNone/>
            </a:pPr>
            <a:r>
              <a:rPr lang="en-US" sz="2600" b="1" dirty="0">
                <a:solidFill>
                  <a:srgbClr val="E8593C"/>
                </a:solidFill>
                <a:latin typeface="Cambria" pitchFamily="34" charset="0"/>
                <a:ea typeface="Cambria" pitchFamily="34" charset="-122"/>
                <a:cs typeface="Cambria" pitchFamily="34" charset="-120"/>
              </a:rPr>
              <a:t>04</a:t>
            </a:r>
            <a:endParaRPr lang="en-US" sz="2600" dirty="0"/>
          </a:p>
        </p:txBody>
      </p:sp>
      <p:sp>
        <p:nvSpPr>
          <p:cNvPr id="17" name="Text 15"/>
          <p:cNvSpPr/>
          <p:nvPr/>
        </p:nvSpPr>
        <p:spPr>
          <a:xfrm>
            <a:off x="9336024" y="2514600"/>
            <a:ext cx="2203704" cy="1005840"/>
          </a:xfrm>
          <a:prstGeom prst="rect">
            <a:avLst/>
          </a:prstGeom>
          <a:noFill/>
          <a:ln/>
        </p:spPr>
        <p:txBody>
          <a:bodyPr wrap="square"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No real acoustic intelligence</a:t>
            </a:r>
            <a:endParaRPr lang="en-US" sz="1500" dirty="0"/>
          </a:p>
        </p:txBody>
      </p:sp>
      <p:sp>
        <p:nvSpPr>
          <p:cNvPr id="18" name="Text 16"/>
          <p:cNvSpPr/>
          <p:nvPr/>
        </p:nvSpPr>
        <p:spPr>
          <a:xfrm>
            <a:off x="9336024" y="3566160"/>
            <a:ext cx="2203704" cy="2011680"/>
          </a:xfrm>
          <a:prstGeom prst="rect">
            <a:avLst/>
          </a:prstGeom>
          <a:noFill/>
          <a:ln/>
        </p:spPr>
        <p:txBody>
          <a:bodyPr wrap="square" rtlCol="0" anchor="t"/>
          <a:lstStyle/>
          <a:p>
            <a:pPr indent="0" marL="0">
              <a:lnSpc>
                <a:spcPct val="125000"/>
              </a:lnSpc>
              <a:buNone/>
            </a:pPr>
            <a:r>
              <a:rPr lang="en-US" sz="1150" dirty="0">
                <a:solidFill>
                  <a:srgbClr val="5C6B85"/>
                </a:solidFill>
                <a:latin typeface="Calibri" pitchFamily="34" charset="0"/>
                <a:ea typeface="Calibri" pitchFamily="34" charset="-122"/>
                <a:cs typeface="Calibri" pitchFamily="34" charset="-120"/>
              </a:rPr>
              <a:t>Simple sound sensors can't tell a scream from a slammed door — and can't hear a spoken safe-word.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How this compares to what's already on the market</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Reviewed against commercially available safety wearables</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0881360" cy="2834640"/>
        </p:xfrm>
        <a:graphic>
          <a:graphicData uri="http://schemas.openxmlformats.org/drawingml/2006/table">
            <a:tbl>
              <a:tblPr/>
              <a:tblGrid>
                <a:gridCol w="2286000"/>
                <a:gridCol w="3566160"/>
                <a:gridCol w="1645920"/>
                <a:gridCol w="1645920"/>
                <a:gridCol w="1737360"/>
              </a:tblGrid>
              <a:tr h="404949">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Device</a:t>
                      </a:r>
                      <a:endParaRPr lang="en-US" sz="11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Trigger method</a:t>
                      </a:r>
                      <a:endParaRPr lang="en-US" sz="11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Needs phone nearby</a:t>
                      </a:r>
                      <a:endParaRPr lang="en-US" sz="11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Works with no phone</a:t>
                      </a:r>
                      <a:endParaRPr lang="en-US" sz="11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Auto-escalates to police</a:t>
                      </a:r>
                      <a:endParaRPr lang="en-US" sz="11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r>
              <a:tr h="404949">
                <a:tc>
                  <a:txBody>
                    <a:bodyPr/>
                    <a:lstStyle/>
                    <a:p>
                      <a:pPr algn="l" indent="0" marL="0">
                        <a:buNone/>
                      </a:pPr>
                      <a:r>
                        <a:rPr lang="en-US" sz="1050" dirty="0">
                          <a:solidFill>
                            <a:srgbClr val="1B2A4A"/>
                          </a:solidFill>
                          <a:latin typeface="Calibri" pitchFamily="34" charset="0"/>
                          <a:ea typeface="Calibri" pitchFamily="34" charset="-122"/>
                          <a:cs typeface="Calibri" pitchFamily="34" charset="-120"/>
                        </a:rPr>
                        <a:t>Athena</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Manual button (hold or triple-press)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04949">
                <a:tc>
                  <a:txBody>
                    <a:bodyPr/>
                    <a:lstStyle/>
                    <a:p>
                      <a:pPr algn="l" indent="0" marL="0">
                        <a:buNone/>
                      </a:pPr>
                      <a:r>
                        <a:rPr lang="en-US" sz="1050" dirty="0">
                          <a:solidFill>
                            <a:srgbClr val="1B2A4A"/>
                          </a:solidFill>
                          <a:latin typeface="Calibri" pitchFamily="34" charset="0"/>
                          <a:ea typeface="Calibri" pitchFamily="34" charset="-122"/>
                          <a:cs typeface="Calibri" pitchFamily="34" charset="-120"/>
                        </a:rPr>
                        <a:t>Safelet</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Manual two-button press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04949">
                <a:tc>
                  <a:txBody>
                    <a:bodyPr/>
                    <a:lstStyle/>
                    <a:p>
                      <a:pPr algn="l" indent="0" marL="0">
                        <a:buNone/>
                      </a:pPr>
                      <a:r>
                        <a:rPr lang="en-US" sz="1050" dirty="0">
                          <a:solidFill>
                            <a:srgbClr val="1B2A4A"/>
                          </a:solidFill>
                          <a:latin typeface="Calibri" pitchFamily="34" charset="0"/>
                          <a:ea typeface="Calibri" pitchFamily="34" charset="-122"/>
                          <a:cs typeface="Calibri" pitchFamily="34" charset="-120"/>
                        </a:rPr>
                        <a:t>Revolar</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Manual button press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04949">
                <a:tc>
                  <a:txBody>
                    <a:bodyPr/>
                    <a:lstStyle/>
                    <a:p>
                      <a:pPr algn="l" indent="0" marL="0">
                        <a:buNone/>
                      </a:pPr>
                      <a:r>
                        <a:rPr lang="en-US" sz="1050" dirty="0">
                          <a:solidFill>
                            <a:srgbClr val="1B2A4A"/>
                          </a:solidFill>
                          <a:latin typeface="Calibri" pitchFamily="34" charset="0"/>
                          <a:ea typeface="Calibri" pitchFamily="34" charset="-122"/>
                          <a:cs typeface="Calibri" pitchFamily="34" charset="-120"/>
                        </a:rPr>
                        <a:t>InvisaWear</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Manual double-tap</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04949">
                <a:tc>
                  <a:txBody>
                    <a:bodyPr/>
                    <a:lstStyle/>
                    <a:p>
                      <a:pPr algn="l" indent="0" marL="0">
                        <a:buNone/>
                      </a:pPr>
                      <a:r>
                        <a:rPr lang="en-US" sz="1050" dirty="0">
                          <a:solidFill>
                            <a:srgbClr val="1B2A4A"/>
                          </a:solidFill>
                          <a:latin typeface="Calibri" pitchFamily="34" charset="0"/>
                          <a:ea typeface="Calibri" pitchFamily="34" charset="-122"/>
                          <a:cs typeface="Calibri" pitchFamily="34" charset="-120"/>
                        </a:rPr>
                        <a:t>Typical Indian smart jewelry</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Manual button</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A4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04949">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Raksha Band</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8593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Automatic — scream, safe-word, motion, tamper</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8593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8593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8593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8593C"/>
                    </a:solidFill>
                  </a:tcPr>
                </a:tc>
              </a:tr>
            </a:tbl>
          </a:graphicData>
        </a:graphic>
      </p:graphicFrame>
      <p:sp>
        <p:nvSpPr>
          <p:cNvPr id="5" name="Shape 2"/>
          <p:cNvSpPr/>
          <p:nvPr/>
        </p:nvSpPr>
        <p:spPr>
          <a:xfrm>
            <a:off x="548640" y="4709160"/>
            <a:ext cx="10881360" cy="1325880"/>
          </a:xfrm>
          <a:prstGeom prst="roundRect">
            <a:avLst>
              <a:gd name="adj" fmla="val 8276"/>
            </a:avLst>
          </a:prstGeom>
          <a:solidFill>
            <a:srgbClr val="E9EDF5"/>
          </a:solidFill>
          <a:ln/>
        </p:spPr>
      </p:sp>
      <p:sp>
        <p:nvSpPr>
          <p:cNvPr id="6" name="Text 3"/>
          <p:cNvSpPr/>
          <p:nvPr/>
        </p:nvSpPr>
        <p:spPr>
          <a:xfrm>
            <a:off x="777240" y="4846320"/>
            <a:ext cx="10424160" cy="1051560"/>
          </a:xfrm>
          <a:prstGeom prst="rect">
            <a:avLst/>
          </a:prstGeom>
          <a:noFill/>
          <a:ln/>
        </p:spPr>
        <p:txBody>
          <a:bodyPr wrap="square" rtlCol="0" anchor="ctr"/>
          <a:lstStyle/>
          <a:p>
            <a:pPr indent="0" marL="0">
              <a:lnSpc>
                <a:spcPct val="130000"/>
              </a:lnSpc>
              <a:buNone/>
            </a:pPr>
            <a:r>
              <a:rPr lang="en-US" sz="1100" i="1" dirty="0">
                <a:solidFill>
                  <a:srgbClr val="5C6B85"/>
                </a:solidFill>
                <a:latin typeface="Calibri" pitchFamily="34" charset="0"/>
                <a:ea typeface="Calibri" pitchFamily="34" charset="-122"/>
                <a:cs typeface="Calibri" pitchFamily="34" charset="-120"/>
              </a:rPr>
              <a:t>Every product we reviewed — including well-funded, established ones — relies on a manual button and a paired smartphone. None combine offline AI-based scream detection with autonomous escalation. Worth saying plainly: these are shipping products with real users and track records; Raksha Band is still a prototype. The comparison is about design philosophy, not a claim that it's more proven.</a:t>
            </a:r>
            <a:endParaRPr lang="en-US" sz="1100" dirty="0"/>
          </a:p>
        </p:txBody>
      </p:sp>
      <p:sp>
        <p:nvSpPr>
          <p:cNvPr id="7" name="Text 4"/>
          <p:cNvSpPr/>
          <p:nvPr/>
        </p:nvSpPr>
        <p:spPr>
          <a:xfrm>
            <a:off x="548640" y="6172200"/>
            <a:ext cx="7315200" cy="274320"/>
          </a:xfrm>
          <a:prstGeom prst="rect">
            <a:avLst/>
          </a:prstGeom>
          <a:noFill/>
          <a:ln/>
        </p:spPr>
        <p:txBody>
          <a:bodyPr wrap="square" rtlCol="0" anchor="ctr"/>
          <a:lstStyle/>
          <a:p>
            <a:pPr indent="0" marL="0">
              <a:buNone/>
            </a:pPr>
            <a:r>
              <a:rPr lang="en-US" sz="850" i="1" dirty="0">
                <a:solidFill>
                  <a:srgbClr val="5C6B85"/>
                </a:solidFill>
                <a:latin typeface="Calibri" pitchFamily="34" charset="0"/>
                <a:ea typeface="Calibri" pitchFamily="34" charset="-122"/>
                <a:cs typeface="Calibri" pitchFamily="34" charset="-120"/>
              </a:rPr>
              <a:t>Sources: Bustle, Psychology Today, magicpin, Rescu product roundups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We tried to actually buy these — here's what happened</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Amazon listings checked directly, July 2026</a:t>
            </a:r>
            <a:endParaRPr lang="en-US" sz="1250" dirty="0"/>
          </a:p>
        </p:txBody>
      </p:sp>
      <p:sp>
        <p:nvSpPr>
          <p:cNvPr id="4" name="Shape 2"/>
          <p:cNvSpPr/>
          <p:nvPr/>
        </p:nvSpPr>
        <p:spPr>
          <a:xfrm>
            <a:off x="502920" y="1554480"/>
            <a:ext cx="2606040" cy="1691640"/>
          </a:xfrm>
          <a:prstGeom prst="roundRect">
            <a:avLst>
              <a:gd name="adj" fmla="val 3243"/>
            </a:avLst>
          </a:prstGeom>
          <a:solidFill>
            <a:srgbClr val="E9EDF5"/>
          </a:solidFill>
          <a:ln/>
        </p:spPr>
      </p:sp>
      <p:pic>
        <p:nvPicPr>
          <p:cNvPr id="5" name="Image 0" descr="/mnt/user-data/uploads/Screenshot_2026-07-24_105605.png">    </p:cNvPr>
          <p:cNvPicPr>
            <a:picLocks noChangeAspect="1"/>
          </p:cNvPicPr>
          <p:nvPr/>
        </p:nvPicPr>
        <p:blipFill>
          <a:blip r:embed="rId1"/>
          <a:srcRect l="0" r="0" t="0" b="0"/>
          <a:stretch/>
        </p:blipFill>
        <p:spPr>
          <a:xfrm>
            <a:off x="548640" y="1600200"/>
            <a:ext cx="2514600" cy="1600200"/>
          </a:xfrm>
          <a:prstGeom prst="rect">
            <a:avLst/>
          </a:prstGeom>
        </p:spPr>
      </p:pic>
      <p:sp>
        <p:nvSpPr>
          <p:cNvPr id="6" name="Text 3"/>
          <p:cNvSpPr/>
          <p:nvPr/>
        </p:nvSpPr>
        <p:spPr>
          <a:xfrm>
            <a:off x="548640" y="3337560"/>
            <a:ext cx="2514600" cy="32004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Safelet — Indra</a:t>
            </a:r>
            <a:endParaRPr lang="en-US" sz="1150" dirty="0"/>
          </a:p>
        </p:txBody>
      </p:sp>
      <p:sp>
        <p:nvSpPr>
          <p:cNvPr id="7" name="Text 4"/>
          <p:cNvSpPr/>
          <p:nvPr/>
        </p:nvSpPr>
        <p:spPr>
          <a:xfrm>
            <a:off x="548640" y="3639312"/>
            <a:ext cx="2514600" cy="502920"/>
          </a:xfrm>
          <a:prstGeom prst="rect">
            <a:avLst/>
          </a:prstGeom>
          <a:noFill/>
          <a:ln/>
        </p:spPr>
        <p:txBody>
          <a:bodyPr wrap="square" rtlCol="0" anchor="t"/>
          <a:lstStyle/>
          <a:p>
            <a:pPr indent="0" marL="0">
              <a:lnSpc>
                <a:spcPct val="115000"/>
              </a:lnSpc>
              <a:buNone/>
            </a:pPr>
            <a:r>
              <a:rPr lang="en-US" sz="1000" b="1" dirty="0">
                <a:solidFill>
                  <a:srgbClr val="B8401F"/>
                </a:solidFill>
                <a:latin typeface="Calibri" pitchFamily="34" charset="0"/>
                <a:ea typeface="Calibri" pitchFamily="34" charset="-122"/>
                <a:cs typeface="Calibri" pitchFamily="34" charset="-120"/>
              </a:rPr>
              <a:t>Currently unavailable · 1.0★ (1 review)</a:t>
            </a:r>
            <a:endParaRPr lang="en-US" sz="1000" dirty="0"/>
          </a:p>
        </p:txBody>
      </p:sp>
      <p:sp>
        <p:nvSpPr>
          <p:cNvPr id="8" name="Shape 5"/>
          <p:cNvSpPr/>
          <p:nvPr/>
        </p:nvSpPr>
        <p:spPr>
          <a:xfrm>
            <a:off x="3246120" y="1554480"/>
            <a:ext cx="2606040" cy="1691640"/>
          </a:xfrm>
          <a:prstGeom prst="roundRect">
            <a:avLst>
              <a:gd name="adj" fmla="val 3243"/>
            </a:avLst>
          </a:prstGeom>
          <a:solidFill>
            <a:srgbClr val="E9EDF5"/>
          </a:solidFill>
          <a:ln/>
        </p:spPr>
      </p:sp>
      <p:pic>
        <p:nvPicPr>
          <p:cNvPr id="9" name="Image 1" descr="/mnt/user-data/uploads/Screenshot_2026-07-24_105809.png">    </p:cNvPr>
          <p:cNvPicPr>
            <a:picLocks noChangeAspect="1"/>
          </p:cNvPicPr>
          <p:nvPr/>
        </p:nvPicPr>
        <p:blipFill>
          <a:blip r:embed="rId2"/>
          <a:srcRect l="0" r="0" t="0" b="0"/>
          <a:stretch/>
        </p:blipFill>
        <p:spPr>
          <a:xfrm>
            <a:off x="3291840" y="1600200"/>
            <a:ext cx="2514600" cy="1600200"/>
          </a:xfrm>
          <a:prstGeom prst="rect">
            <a:avLst/>
          </a:prstGeom>
        </p:spPr>
      </p:pic>
      <p:sp>
        <p:nvSpPr>
          <p:cNvPr id="10" name="Text 6"/>
          <p:cNvSpPr/>
          <p:nvPr/>
        </p:nvSpPr>
        <p:spPr>
          <a:xfrm>
            <a:off x="3291840" y="3337560"/>
            <a:ext cx="2514600" cy="32004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Leaf Wearables — Safer</a:t>
            </a:r>
            <a:endParaRPr lang="en-US" sz="1150" dirty="0"/>
          </a:p>
        </p:txBody>
      </p:sp>
      <p:sp>
        <p:nvSpPr>
          <p:cNvPr id="11" name="Text 7"/>
          <p:cNvSpPr/>
          <p:nvPr/>
        </p:nvSpPr>
        <p:spPr>
          <a:xfrm>
            <a:off x="3291840" y="3639312"/>
            <a:ext cx="2514600" cy="502920"/>
          </a:xfrm>
          <a:prstGeom prst="rect">
            <a:avLst/>
          </a:prstGeom>
          <a:noFill/>
          <a:ln/>
        </p:spPr>
        <p:txBody>
          <a:bodyPr wrap="square" rtlCol="0" anchor="t"/>
          <a:lstStyle/>
          <a:p>
            <a:pPr indent="0" marL="0">
              <a:lnSpc>
                <a:spcPct val="115000"/>
              </a:lnSpc>
              <a:buNone/>
            </a:pPr>
            <a:r>
              <a:rPr lang="en-US" sz="1000" b="1" dirty="0">
                <a:solidFill>
                  <a:srgbClr val="B8401F"/>
                </a:solidFill>
                <a:latin typeface="Calibri" pitchFamily="34" charset="0"/>
                <a:ea typeface="Calibri" pitchFamily="34" charset="-122"/>
                <a:cs typeface="Calibri" pitchFamily="34" charset="-120"/>
              </a:rPr>
              <a:t>Currently unavailable · 3.4★ (55 reviews)</a:t>
            </a:r>
            <a:endParaRPr lang="en-US" sz="1000" dirty="0"/>
          </a:p>
        </p:txBody>
      </p:sp>
      <p:sp>
        <p:nvSpPr>
          <p:cNvPr id="12" name="Shape 8"/>
          <p:cNvSpPr/>
          <p:nvPr/>
        </p:nvSpPr>
        <p:spPr>
          <a:xfrm>
            <a:off x="5989320" y="1554480"/>
            <a:ext cx="2606040" cy="1691640"/>
          </a:xfrm>
          <a:prstGeom prst="roundRect">
            <a:avLst>
              <a:gd name="adj" fmla="val 3243"/>
            </a:avLst>
          </a:prstGeom>
          <a:solidFill>
            <a:srgbClr val="E9EDF5"/>
          </a:solidFill>
          <a:ln/>
        </p:spPr>
      </p:sp>
      <p:pic>
        <p:nvPicPr>
          <p:cNvPr id="13" name="Image 2" descr="/mnt/user-data/uploads/Screenshot_2026-07-24_105925.png">    </p:cNvPr>
          <p:cNvPicPr>
            <a:picLocks noChangeAspect="1"/>
          </p:cNvPicPr>
          <p:nvPr/>
        </p:nvPicPr>
        <p:blipFill>
          <a:blip r:embed="rId3"/>
          <a:srcRect l="0" r="0" t="0" b="0"/>
          <a:stretch/>
        </p:blipFill>
        <p:spPr>
          <a:xfrm>
            <a:off x="6035040" y="1600200"/>
            <a:ext cx="2514600" cy="1600200"/>
          </a:xfrm>
          <a:prstGeom prst="rect">
            <a:avLst/>
          </a:prstGeom>
        </p:spPr>
      </p:pic>
      <p:sp>
        <p:nvSpPr>
          <p:cNvPr id="14" name="Text 9"/>
          <p:cNvSpPr/>
          <p:nvPr/>
        </p:nvSpPr>
        <p:spPr>
          <a:xfrm>
            <a:off x="6035040" y="3337560"/>
            <a:ext cx="2514600" cy="32004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invisaWear necklace</a:t>
            </a:r>
            <a:endParaRPr lang="en-US" sz="1150" dirty="0"/>
          </a:p>
        </p:txBody>
      </p:sp>
      <p:sp>
        <p:nvSpPr>
          <p:cNvPr id="15" name="Text 10"/>
          <p:cNvSpPr/>
          <p:nvPr/>
        </p:nvSpPr>
        <p:spPr>
          <a:xfrm>
            <a:off x="6035040" y="3639312"/>
            <a:ext cx="2514600" cy="502920"/>
          </a:xfrm>
          <a:prstGeom prst="rect">
            <a:avLst/>
          </a:prstGeom>
          <a:noFill/>
          <a:ln/>
        </p:spPr>
        <p:txBody>
          <a:bodyPr wrap="square" rtlCol="0" anchor="t"/>
          <a:lstStyle/>
          <a:p>
            <a:pPr indent="0" marL="0">
              <a:lnSpc>
                <a:spcPct val="115000"/>
              </a:lnSpc>
              <a:buNone/>
            </a:pPr>
            <a:r>
              <a:rPr lang="en-US" sz="1000" b="1" dirty="0">
                <a:solidFill>
                  <a:srgbClr val="B8401F"/>
                </a:solidFill>
                <a:latin typeface="Calibri" pitchFamily="34" charset="0"/>
                <a:ea typeface="Calibri" pitchFamily="34" charset="-122"/>
                <a:cs typeface="Calibri" pitchFamily="34" charset="-120"/>
              </a:rPr>
              <a:t>₹9,577 · can't ship to India</a:t>
            </a:r>
            <a:endParaRPr lang="en-US" sz="1000" dirty="0"/>
          </a:p>
        </p:txBody>
      </p:sp>
      <p:sp>
        <p:nvSpPr>
          <p:cNvPr id="16" name="Shape 11"/>
          <p:cNvSpPr/>
          <p:nvPr/>
        </p:nvSpPr>
        <p:spPr>
          <a:xfrm>
            <a:off x="8732520" y="1554480"/>
            <a:ext cx="2606040" cy="1691640"/>
          </a:xfrm>
          <a:prstGeom prst="roundRect">
            <a:avLst>
              <a:gd name="adj" fmla="val 3243"/>
            </a:avLst>
          </a:prstGeom>
          <a:solidFill>
            <a:srgbClr val="E9EDF5"/>
          </a:solidFill>
          <a:ln/>
        </p:spPr>
      </p:sp>
      <p:pic>
        <p:nvPicPr>
          <p:cNvPr id="17" name="Image 3" descr="/home/claude/pdf_assets/revolar_crop.png">    </p:cNvPr>
          <p:cNvPicPr>
            <a:picLocks noChangeAspect="1"/>
          </p:cNvPicPr>
          <p:nvPr/>
        </p:nvPicPr>
        <p:blipFill>
          <a:blip r:embed="rId4"/>
          <a:srcRect l="0" r="0" t="0" b="0"/>
          <a:stretch/>
        </p:blipFill>
        <p:spPr>
          <a:xfrm>
            <a:off x="8778240" y="1600200"/>
            <a:ext cx="2514600" cy="1600200"/>
          </a:xfrm>
          <a:prstGeom prst="rect">
            <a:avLst/>
          </a:prstGeom>
        </p:spPr>
      </p:pic>
      <p:sp>
        <p:nvSpPr>
          <p:cNvPr id="18" name="Text 12"/>
          <p:cNvSpPr/>
          <p:nvPr/>
        </p:nvSpPr>
        <p:spPr>
          <a:xfrm>
            <a:off x="8778240" y="3337560"/>
            <a:ext cx="2514600" cy="320040"/>
          </a:xfrm>
          <a:prstGeom prst="rect">
            <a:avLst/>
          </a:prstGeom>
          <a:noFill/>
          <a:ln/>
        </p:spPr>
        <p:txBody>
          <a:bodyPr wrap="square"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Revolar</a:t>
            </a:r>
            <a:endParaRPr lang="en-US" sz="1150" dirty="0"/>
          </a:p>
        </p:txBody>
      </p:sp>
      <p:sp>
        <p:nvSpPr>
          <p:cNvPr id="19" name="Text 13"/>
          <p:cNvSpPr/>
          <p:nvPr/>
        </p:nvSpPr>
        <p:spPr>
          <a:xfrm>
            <a:off x="8778240" y="3639312"/>
            <a:ext cx="2514600" cy="502920"/>
          </a:xfrm>
          <a:prstGeom prst="rect">
            <a:avLst/>
          </a:prstGeom>
          <a:noFill/>
          <a:ln/>
        </p:spPr>
        <p:txBody>
          <a:bodyPr wrap="square" rtlCol="0" anchor="t"/>
          <a:lstStyle/>
          <a:p>
            <a:pPr indent="0" marL="0">
              <a:lnSpc>
                <a:spcPct val="115000"/>
              </a:lnSpc>
              <a:buNone/>
            </a:pPr>
            <a:r>
              <a:rPr lang="en-US" sz="1000" b="1" dirty="0">
                <a:solidFill>
                  <a:srgbClr val="B8401F"/>
                </a:solidFill>
                <a:latin typeface="Calibri" pitchFamily="34" charset="0"/>
                <a:ea typeface="Calibri" pitchFamily="34" charset="-122"/>
                <a:cs typeface="Calibri" pitchFamily="34" charset="-120"/>
              </a:rPr>
              <a:t>Currently unavailable · 3.3★ (38 reviews)</a:t>
            </a:r>
            <a:endParaRPr lang="en-US" sz="1000" dirty="0"/>
          </a:p>
        </p:txBody>
      </p:sp>
      <p:sp>
        <p:nvSpPr>
          <p:cNvPr id="20" name="Shape 14"/>
          <p:cNvSpPr/>
          <p:nvPr/>
        </p:nvSpPr>
        <p:spPr>
          <a:xfrm>
            <a:off x="548640" y="5166360"/>
            <a:ext cx="10881360" cy="1051560"/>
          </a:xfrm>
          <a:prstGeom prst="roundRect">
            <a:avLst>
              <a:gd name="adj" fmla="val 10435"/>
            </a:avLst>
          </a:prstGeom>
          <a:solidFill>
            <a:srgbClr val="1B2A4A"/>
          </a:solidFill>
          <a:ln/>
        </p:spPr>
      </p:sp>
      <p:sp>
        <p:nvSpPr>
          <p:cNvPr id="21" name="Text 15"/>
          <p:cNvSpPr/>
          <p:nvPr/>
        </p:nvSpPr>
        <p:spPr>
          <a:xfrm>
            <a:off x="822960" y="5303520"/>
            <a:ext cx="10332720" cy="777240"/>
          </a:xfrm>
          <a:prstGeom prst="rect">
            <a:avLst/>
          </a:prstGeom>
          <a:noFill/>
          <a:ln/>
        </p:spPr>
        <p:txBody>
          <a:bodyPr wrap="square" rtlCol="0" anchor="ctr"/>
          <a:lstStyle/>
          <a:p>
            <a:pPr indent="0" marL="0">
              <a:lnSpc>
                <a:spcPct val="130000"/>
              </a:lnSpc>
              <a:buNone/>
            </a:pPr>
            <a:r>
              <a:rPr lang="en-US" sz="1250" i="1" dirty="0">
                <a:solidFill>
                  <a:srgbClr val="FFFFFF"/>
                </a:solidFill>
                <a:latin typeface="Calibri" pitchFamily="34" charset="0"/>
                <a:ea typeface="Calibri" pitchFamily="34" charset="-122"/>
                <a:cs typeface="Calibri" pitchFamily="34" charset="-120"/>
              </a:rPr>
              <a:t>Three of the four products in the earlier comparison can't currently be purchased at all. The fourth won't ship to India and costs roughly 2.5–3.5x Raksha Band's target price. This isn't a hypothetical market gap — it's a live one, checked directly rather than assumed.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the manual-button design is the real weakness</a:t>
            </a:r>
            <a:endParaRPr lang="en-US" sz="2600" dirty="0"/>
          </a:p>
        </p:txBody>
      </p:sp>
      <p:sp>
        <p:nvSpPr>
          <p:cNvPr id="3" name="Text 1"/>
          <p:cNvSpPr/>
          <p:nvPr/>
        </p:nvSpPr>
        <p:spPr>
          <a:xfrm>
            <a:off x="548640" y="1737360"/>
            <a:ext cx="10058400" cy="457200"/>
          </a:xfrm>
          <a:prstGeom prst="rect">
            <a:avLst/>
          </a:prstGeom>
          <a:noFill/>
          <a:ln/>
        </p:spPr>
        <p:txBody>
          <a:bodyPr wrap="square" rtlCol="0" anchor="ctr"/>
          <a:lstStyle/>
          <a:p>
            <a:pPr indent="0" marL="0">
              <a:buNone/>
            </a:pPr>
            <a:r>
              <a:rPr lang="en-US" sz="1400" dirty="0">
                <a:solidFill>
                  <a:srgbClr val="E9EDF5"/>
                </a:solidFill>
                <a:latin typeface="Calibri" pitchFamily="34" charset="0"/>
                <a:ea typeface="Calibri" pitchFamily="34" charset="-122"/>
                <a:cs typeface="Calibri" pitchFamily="34" charset="-120"/>
              </a:rPr>
              <a:t>Published research on wearable safety devices found:</a:t>
            </a:r>
            <a:endParaRPr lang="en-US" sz="1400" dirty="0"/>
          </a:p>
        </p:txBody>
      </p:sp>
      <p:sp>
        <p:nvSpPr>
          <p:cNvPr id="4" name="Shape 2"/>
          <p:cNvSpPr/>
          <p:nvPr/>
        </p:nvSpPr>
        <p:spPr>
          <a:xfrm>
            <a:off x="548640" y="2286000"/>
            <a:ext cx="5120640" cy="2286000"/>
          </a:xfrm>
          <a:prstGeom prst="roundRect">
            <a:avLst>
              <a:gd name="adj" fmla="val 4800"/>
            </a:avLst>
          </a:prstGeom>
          <a:solidFill>
            <a:srgbClr val="2A3D63"/>
          </a:solidFill>
          <a:ln/>
        </p:spPr>
      </p:sp>
      <p:sp>
        <p:nvSpPr>
          <p:cNvPr id="5" name="Text 3"/>
          <p:cNvSpPr/>
          <p:nvPr/>
        </p:nvSpPr>
        <p:spPr>
          <a:xfrm>
            <a:off x="548640" y="2606040"/>
            <a:ext cx="5120640" cy="822960"/>
          </a:xfrm>
          <a:prstGeom prst="rect">
            <a:avLst/>
          </a:prstGeom>
          <a:noFill/>
          <a:ln/>
        </p:spPr>
        <p:txBody>
          <a:bodyPr wrap="square" rtlCol="0" anchor="ctr"/>
          <a:lstStyle/>
          <a:p>
            <a:pPr algn="ctr" indent="0" marL="0">
              <a:buNone/>
            </a:pPr>
            <a:r>
              <a:rPr lang="en-US" sz="4200" b="1" dirty="0">
                <a:solidFill>
                  <a:srgbClr val="E8593C"/>
                </a:solidFill>
                <a:latin typeface="Cambria" pitchFamily="34" charset="0"/>
                <a:ea typeface="Cambria" pitchFamily="34" charset="-122"/>
                <a:cs typeface="Cambria" pitchFamily="34" charset="-120"/>
              </a:rPr>
              <a:t>8–15s</a:t>
            </a:r>
            <a:endParaRPr lang="en-US" sz="4200" dirty="0"/>
          </a:p>
        </p:txBody>
      </p:sp>
      <p:sp>
        <p:nvSpPr>
          <p:cNvPr id="6" name="Text 4"/>
          <p:cNvSpPr/>
          <p:nvPr/>
        </p:nvSpPr>
        <p:spPr>
          <a:xfrm>
            <a:off x="777240" y="3566160"/>
            <a:ext cx="4663440" cy="914400"/>
          </a:xfrm>
          <a:prstGeom prst="rect">
            <a:avLst/>
          </a:prstGeom>
          <a:noFill/>
          <a:ln/>
        </p:spPr>
        <p:txBody>
          <a:bodyPr wrap="square" rtlCol="0" anchor="t"/>
          <a:lstStyle/>
          <a:p>
            <a:pPr algn="ctr" indent="0" marL="0">
              <a:lnSpc>
                <a:spcPct val="130000"/>
              </a:lnSpc>
              <a:buNone/>
            </a:pPr>
            <a:r>
              <a:rPr lang="en-US" sz="1200" dirty="0">
                <a:solidFill>
                  <a:srgbClr val="E9EDF5"/>
                </a:solidFill>
                <a:latin typeface="Calibri" pitchFamily="34" charset="0"/>
                <a:ea typeface="Calibri" pitchFamily="34" charset="-122"/>
                <a:cs typeface="Calibri" pitchFamily="34" charset="-120"/>
              </a:rPr>
              <a:t>average response latency for manual panic-button devices — driven by the time it takes a person to physically activate them under stress</a:t>
            </a:r>
            <a:endParaRPr lang="en-US" sz="1200" dirty="0"/>
          </a:p>
        </p:txBody>
      </p:sp>
      <p:sp>
        <p:nvSpPr>
          <p:cNvPr id="7" name="Shape 5"/>
          <p:cNvSpPr/>
          <p:nvPr/>
        </p:nvSpPr>
        <p:spPr>
          <a:xfrm>
            <a:off x="6035040" y="2286000"/>
            <a:ext cx="5120640" cy="2286000"/>
          </a:xfrm>
          <a:prstGeom prst="roundRect">
            <a:avLst>
              <a:gd name="adj" fmla="val 4800"/>
            </a:avLst>
          </a:prstGeom>
          <a:solidFill>
            <a:srgbClr val="2A3D63"/>
          </a:solidFill>
          <a:ln/>
        </p:spPr>
      </p:sp>
      <p:sp>
        <p:nvSpPr>
          <p:cNvPr id="8" name="Text 6"/>
          <p:cNvSpPr/>
          <p:nvPr/>
        </p:nvSpPr>
        <p:spPr>
          <a:xfrm>
            <a:off x="6035040" y="2606040"/>
            <a:ext cx="5120640" cy="822960"/>
          </a:xfrm>
          <a:prstGeom prst="rect">
            <a:avLst/>
          </a:prstGeom>
          <a:noFill/>
          <a:ln/>
        </p:spPr>
        <p:txBody>
          <a:bodyPr wrap="square" rtlCol="0" anchor="ctr"/>
          <a:lstStyle/>
          <a:p>
            <a:pPr algn="ctr" indent="0" marL="0">
              <a:buNone/>
            </a:pPr>
            <a:r>
              <a:rPr lang="en-US" sz="4200" b="1" dirty="0">
                <a:solidFill>
                  <a:srgbClr val="E8593C"/>
                </a:solidFill>
                <a:latin typeface="Cambria" pitchFamily="34" charset="0"/>
                <a:ea typeface="Cambria" pitchFamily="34" charset="-122"/>
                <a:cs typeface="Cambria" pitchFamily="34" charset="-120"/>
              </a:rPr>
              <a:t>3–8s</a:t>
            </a:r>
            <a:endParaRPr lang="en-US" sz="4200" dirty="0"/>
          </a:p>
        </p:txBody>
      </p:sp>
      <p:sp>
        <p:nvSpPr>
          <p:cNvPr id="9" name="Text 7"/>
          <p:cNvSpPr/>
          <p:nvPr/>
        </p:nvSpPr>
        <p:spPr>
          <a:xfrm>
            <a:off x="6263640" y="3566160"/>
            <a:ext cx="4663440" cy="914400"/>
          </a:xfrm>
          <a:prstGeom prst="rect">
            <a:avLst/>
          </a:prstGeom>
          <a:noFill/>
          <a:ln/>
        </p:spPr>
        <p:txBody>
          <a:bodyPr wrap="square" rtlCol="0" anchor="t"/>
          <a:lstStyle/>
          <a:p>
            <a:pPr algn="ctr" indent="0" marL="0">
              <a:lnSpc>
                <a:spcPct val="130000"/>
              </a:lnSpc>
              <a:buNone/>
            </a:pPr>
            <a:r>
              <a:rPr lang="en-US" sz="1200" dirty="0">
                <a:solidFill>
                  <a:srgbClr val="E9EDF5"/>
                </a:solidFill>
                <a:latin typeface="Calibri" pitchFamily="34" charset="0"/>
                <a:ea typeface="Calibri" pitchFamily="34" charset="-122"/>
                <a:cs typeface="Calibri" pitchFamily="34" charset="-120"/>
              </a:rPr>
              <a:t>response time achieved by automated, sensor-driven activation that doesn't wait for a deliberate physical action</a:t>
            </a:r>
            <a:endParaRPr lang="en-US" sz="1200" dirty="0"/>
          </a:p>
        </p:txBody>
      </p:sp>
      <p:sp>
        <p:nvSpPr>
          <p:cNvPr id="10" name="Text 8"/>
          <p:cNvSpPr/>
          <p:nvPr/>
        </p:nvSpPr>
        <p:spPr>
          <a:xfrm>
            <a:off x="548640" y="4846320"/>
            <a:ext cx="10881360" cy="731520"/>
          </a:xfrm>
          <a:prstGeom prst="rect">
            <a:avLst/>
          </a:prstGeom>
          <a:noFill/>
          <a:ln/>
        </p:spPr>
        <p:txBody>
          <a:bodyPr wrap="square" rtlCol="0" anchor="t"/>
          <a:lstStyle/>
          <a:p>
            <a:pPr indent="0" marL="0">
              <a:lnSpc>
                <a:spcPct val="130000"/>
              </a:lnSpc>
              <a:buNone/>
            </a:pPr>
            <a:r>
              <a:rPr lang="en-US" sz="1250" i="1" dirty="0">
                <a:solidFill>
                  <a:srgbClr val="E9EDF5"/>
                </a:solidFill>
                <a:latin typeface="Calibri" pitchFamily="34" charset="0"/>
                <a:ea typeface="Calibri" pitchFamily="34" charset="-122"/>
                <a:cs typeface="Calibri" pitchFamily="34" charset="-120"/>
              </a:rPr>
              <a:t>This is exactly the gap between every product on the market and the approach Raksha Band takes — the bottleneck was never the technology to send an alert, it was requiring a person in crisis to trigger it.</a:t>
            </a:r>
            <a:endParaRPr lang="en-US" sz="1250" dirty="0"/>
          </a:p>
        </p:txBody>
      </p:sp>
      <p:sp>
        <p:nvSpPr>
          <p:cNvPr id="11" name="Text 9"/>
          <p:cNvSpPr/>
          <p:nvPr/>
        </p:nvSpPr>
        <p:spPr>
          <a:xfrm>
            <a:off x="548640" y="6217920"/>
            <a:ext cx="7315200" cy="274320"/>
          </a:xfrm>
          <a:prstGeom prst="rect">
            <a:avLst/>
          </a:prstGeom>
          <a:noFill/>
          <a:ln/>
        </p:spPr>
        <p:txBody>
          <a:bodyPr wrap="square" rtlCol="0" anchor="ctr"/>
          <a:lstStyle/>
          <a:p>
            <a:pPr indent="0" marL="0">
              <a:buNone/>
            </a:pPr>
            <a:r>
              <a:rPr lang="en-US" sz="850" i="1" dirty="0">
                <a:solidFill>
                  <a:srgbClr val="5C6B85"/>
                </a:solidFill>
                <a:latin typeface="Calibri" pitchFamily="34" charset="0"/>
                <a:ea typeface="Calibri" pitchFamily="34" charset="-122"/>
                <a:cs typeface="Calibri" pitchFamily="34" charset="-120"/>
              </a:rPr>
              <a:t>Source: Arduino-based women's safety wearable study, Premier Science,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502920"/>
            <a:ext cx="5486400" cy="457200"/>
          </a:xfrm>
          <a:prstGeom prst="rect">
            <a:avLst/>
          </a:prstGeom>
          <a:noFill/>
          <a:ln/>
        </p:spPr>
        <p:txBody>
          <a:bodyPr wrap="square" rtlCol="0" anchor="ctr"/>
          <a:lstStyle/>
          <a:p>
            <a:pPr indent="0" marL="0">
              <a:buNone/>
            </a:pPr>
            <a:r>
              <a:rPr lang="en-US" sz="1400" b="1" spc="100" kern="0" dirty="0">
                <a:solidFill>
                  <a:srgbClr val="E8593C"/>
                </a:solidFill>
                <a:latin typeface="Calibri" pitchFamily="34" charset="0"/>
                <a:ea typeface="Calibri" pitchFamily="34" charset="-122"/>
                <a:cs typeface="Calibri" pitchFamily="34" charset="-120"/>
              </a:rPr>
              <a:t>The solution</a:t>
            </a:r>
            <a:endParaRPr lang="en-US" sz="1400" dirty="0"/>
          </a:p>
        </p:txBody>
      </p:sp>
      <p:sp>
        <p:nvSpPr>
          <p:cNvPr id="3" name="Text 1"/>
          <p:cNvSpPr/>
          <p:nvPr/>
        </p:nvSpPr>
        <p:spPr>
          <a:xfrm>
            <a:off x="548640" y="914400"/>
            <a:ext cx="6583680" cy="14630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wearable that senses distress and acts on its own</a:t>
            </a:r>
            <a:endParaRPr lang="en-US" sz="3000" dirty="0"/>
          </a:p>
        </p:txBody>
      </p:sp>
      <p:sp>
        <p:nvSpPr>
          <p:cNvPr id="4" name="Text 2"/>
          <p:cNvSpPr/>
          <p:nvPr/>
        </p:nvSpPr>
        <p:spPr>
          <a:xfrm>
            <a:off x="548640" y="2514600"/>
            <a:ext cx="6035040" cy="1828800"/>
          </a:xfrm>
          <a:prstGeom prst="rect">
            <a:avLst/>
          </a:prstGeom>
          <a:noFill/>
          <a:ln/>
        </p:spPr>
        <p:txBody>
          <a:bodyPr wrap="square" rtlCol="0" anchor="t"/>
          <a:lstStyle/>
          <a:p>
            <a:pPr indent="0" marL="0">
              <a:lnSpc>
                <a:spcPct val="135000"/>
              </a:lnSpc>
              <a:buNone/>
            </a:pPr>
            <a:r>
              <a:rPr lang="en-US" sz="1400" dirty="0">
                <a:solidFill>
                  <a:srgbClr val="E9EDF5"/>
                </a:solidFill>
                <a:latin typeface="Calibri" pitchFamily="34" charset="0"/>
                <a:ea typeface="Calibri" pitchFamily="34" charset="-122"/>
                <a:cs typeface="Calibri" pitchFamily="34" charset="-120"/>
              </a:rPr>
              <a:t>No button. No app to open. No steps to remember. Raksha Band listens for a scream or a spoken safe-word, confirms it against motion and heart-rate signals, and handles the entire alert sequence — location, contacts, siren, and escalation — without requiring a single deliberate action.</a:t>
            </a:r>
            <a:endParaRPr lang="en-US" sz="1400" dirty="0"/>
          </a:p>
        </p:txBody>
      </p:sp>
      <p:sp>
        <p:nvSpPr>
          <p:cNvPr id="5" name="Shape 3"/>
          <p:cNvSpPr/>
          <p:nvPr/>
        </p:nvSpPr>
        <p:spPr>
          <a:xfrm>
            <a:off x="7040880" y="1005840"/>
            <a:ext cx="4480560" cy="1508760"/>
          </a:xfrm>
          <a:prstGeom prst="roundRect">
            <a:avLst>
              <a:gd name="adj" fmla="val 7273"/>
            </a:avLst>
          </a:prstGeom>
          <a:solidFill>
            <a:srgbClr val="2A3D63"/>
          </a:solidFill>
          <a:ln/>
        </p:spPr>
      </p:sp>
      <p:sp>
        <p:nvSpPr>
          <p:cNvPr id="6" name="Shape 4"/>
          <p:cNvSpPr/>
          <p:nvPr/>
        </p:nvSpPr>
        <p:spPr>
          <a:xfrm>
            <a:off x="7269480" y="1261872"/>
            <a:ext cx="457200" cy="457200"/>
          </a:xfrm>
          <a:prstGeom prst="ellipse">
            <a:avLst/>
          </a:prstGeom>
          <a:solidFill>
            <a:srgbClr val="E8593C"/>
          </a:solidFill>
          <a:ln/>
        </p:spPr>
      </p:sp>
      <p:sp>
        <p:nvSpPr>
          <p:cNvPr id="7" name="Text 5"/>
          <p:cNvSpPr/>
          <p:nvPr/>
        </p:nvSpPr>
        <p:spPr>
          <a:xfrm>
            <a:off x="7909560" y="1188720"/>
            <a:ext cx="34747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Senses</a:t>
            </a:r>
            <a:endParaRPr lang="en-US" sz="1500" dirty="0"/>
          </a:p>
        </p:txBody>
      </p:sp>
      <p:sp>
        <p:nvSpPr>
          <p:cNvPr id="8" name="Text 6"/>
          <p:cNvSpPr/>
          <p:nvPr/>
        </p:nvSpPr>
        <p:spPr>
          <a:xfrm>
            <a:off x="7909560" y="1572768"/>
            <a:ext cx="3474720" cy="777240"/>
          </a:xfrm>
          <a:prstGeom prst="rect">
            <a:avLst/>
          </a:prstGeom>
          <a:noFill/>
          <a:ln/>
        </p:spPr>
        <p:txBody>
          <a:bodyPr wrap="square" rtlCol="0" anchor="t"/>
          <a:lstStyle/>
          <a:p>
            <a:pPr indent="0" marL="0">
              <a:lnSpc>
                <a:spcPct val="120000"/>
              </a:lnSpc>
              <a:buNone/>
            </a:pPr>
            <a:r>
              <a:rPr lang="en-US" sz="1150" dirty="0">
                <a:solidFill>
                  <a:srgbClr val="E9EDF5"/>
                </a:solidFill>
                <a:latin typeface="Calibri" pitchFamily="34" charset="0"/>
                <a:ea typeface="Calibri" pitchFamily="34" charset="-122"/>
                <a:cs typeface="Calibri" pitchFamily="34" charset="-120"/>
              </a:rPr>
              <a:t>AI scream detection + safe-word + motion + heart rate, fused together</a:t>
            </a:r>
            <a:endParaRPr lang="en-US" sz="1150" dirty="0"/>
          </a:p>
        </p:txBody>
      </p:sp>
      <p:sp>
        <p:nvSpPr>
          <p:cNvPr id="9" name="Shape 7"/>
          <p:cNvSpPr/>
          <p:nvPr/>
        </p:nvSpPr>
        <p:spPr>
          <a:xfrm>
            <a:off x="7040880" y="2788920"/>
            <a:ext cx="4480560" cy="1508760"/>
          </a:xfrm>
          <a:prstGeom prst="roundRect">
            <a:avLst>
              <a:gd name="adj" fmla="val 7273"/>
            </a:avLst>
          </a:prstGeom>
          <a:solidFill>
            <a:srgbClr val="2A3D63"/>
          </a:solidFill>
          <a:ln/>
        </p:spPr>
      </p:sp>
      <p:sp>
        <p:nvSpPr>
          <p:cNvPr id="10" name="Shape 8"/>
          <p:cNvSpPr/>
          <p:nvPr/>
        </p:nvSpPr>
        <p:spPr>
          <a:xfrm>
            <a:off x="7269480" y="3044952"/>
            <a:ext cx="457200" cy="457200"/>
          </a:xfrm>
          <a:prstGeom prst="ellipse">
            <a:avLst/>
          </a:prstGeom>
          <a:solidFill>
            <a:srgbClr val="E8593C"/>
          </a:solidFill>
          <a:ln/>
        </p:spPr>
      </p:sp>
      <p:sp>
        <p:nvSpPr>
          <p:cNvPr id="11" name="Text 9"/>
          <p:cNvSpPr/>
          <p:nvPr/>
        </p:nvSpPr>
        <p:spPr>
          <a:xfrm>
            <a:off x="7909560" y="2971800"/>
            <a:ext cx="34747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Acts</a:t>
            </a:r>
            <a:endParaRPr lang="en-US" sz="1500" dirty="0"/>
          </a:p>
        </p:txBody>
      </p:sp>
      <p:sp>
        <p:nvSpPr>
          <p:cNvPr id="12" name="Text 10"/>
          <p:cNvSpPr/>
          <p:nvPr/>
        </p:nvSpPr>
        <p:spPr>
          <a:xfrm>
            <a:off x="7909560" y="3355848"/>
            <a:ext cx="3474720" cy="777240"/>
          </a:xfrm>
          <a:prstGeom prst="rect">
            <a:avLst/>
          </a:prstGeom>
          <a:noFill/>
          <a:ln/>
        </p:spPr>
        <p:txBody>
          <a:bodyPr wrap="square" rtlCol="0" anchor="t"/>
          <a:lstStyle/>
          <a:p>
            <a:pPr indent="0" marL="0">
              <a:lnSpc>
                <a:spcPct val="120000"/>
              </a:lnSpc>
              <a:buNone/>
            </a:pPr>
            <a:r>
              <a:rPr lang="en-US" sz="1150" dirty="0">
                <a:solidFill>
                  <a:srgbClr val="E9EDF5"/>
                </a:solidFill>
                <a:latin typeface="Calibri" pitchFamily="34" charset="0"/>
                <a:ea typeface="Calibri" pitchFamily="34" charset="-122"/>
                <a:cs typeface="Calibri" pitchFamily="34" charset="-120"/>
              </a:rPr>
              <a:t>GPS + SMS + siren fire within seconds, no confirmation needed</a:t>
            </a:r>
            <a:endParaRPr lang="en-US" sz="1150" dirty="0"/>
          </a:p>
        </p:txBody>
      </p:sp>
      <p:sp>
        <p:nvSpPr>
          <p:cNvPr id="13" name="Shape 11"/>
          <p:cNvSpPr/>
          <p:nvPr/>
        </p:nvSpPr>
        <p:spPr>
          <a:xfrm>
            <a:off x="7040880" y="4572000"/>
            <a:ext cx="4480560" cy="1508760"/>
          </a:xfrm>
          <a:prstGeom prst="roundRect">
            <a:avLst>
              <a:gd name="adj" fmla="val 7273"/>
            </a:avLst>
          </a:prstGeom>
          <a:solidFill>
            <a:srgbClr val="2A3D63"/>
          </a:solidFill>
          <a:ln/>
        </p:spPr>
      </p:sp>
      <p:sp>
        <p:nvSpPr>
          <p:cNvPr id="14" name="Shape 12"/>
          <p:cNvSpPr/>
          <p:nvPr/>
        </p:nvSpPr>
        <p:spPr>
          <a:xfrm>
            <a:off x="7269480" y="4828032"/>
            <a:ext cx="457200" cy="457200"/>
          </a:xfrm>
          <a:prstGeom prst="ellipse">
            <a:avLst/>
          </a:prstGeom>
          <a:solidFill>
            <a:srgbClr val="E8593C"/>
          </a:solidFill>
          <a:ln/>
        </p:spPr>
      </p:sp>
      <p:sp>
        <p:nvSpPr>
          <p:cNvPr id="15" name="Text 13"/>
          <p:cNvSpPr/>
          <p:nvPr/>
        </p:nvSpPr>
        <p:spPr>
          <a:xfrm>
            <a:off x="7909560" y="4754880"/>
            <a:ext cx="34747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Escalates</a:t>
            </a:r>
            <a:endParaRPr lang="en-US" sz="1500" dirty="0"/>
          </a:p>
        </p:txBody>
      </p:sp>
      <p:sp>
        <p:nvSpPr>
          <p:cNvPr id="16" name="Text 14"/>
          <p:cNvSpPr/>
          <p:nvPr/>
        </p:nvSpPr>
        <p:spPr>
          <a:xfrm>
            <a:off x="7909560" y="5138928"/>
            <a:ext cx="3474720" cy="777240"/>
          </a:xfrm>
          <a:prstGeom prst="rect">
            <a:avLst/>
          </a:prstGeom>
          <a:noFill/>
          <a:ln/>
        </p:spPr>
        <p:txBody>
          <a:bodyPr wrap="square" rtlCol="0" anchor="t"/>
          <a:lstStyle/>
          <a:p>
            <a:pPr indent="0" marL="0">
              <a:lnSpc>
                <a:spcPct val="120000"/>
              </a:lnSpc>
              <a:buNone/>
            </a:pPr>
            <a:r>
              <a:rPr lang="en-US" sz="1150" dirty="0">
                <a:solidFill>
                  <a:srgbClr val="E9EDF5"/>
                </a:solidFill>
                <a:latin typeface="Calibri" pitchFamily="34" charset="0"/>
                <a:ea typeface="Calibri" pitchFamily="34" charset="-122"/>
                <a:cs typeface="Calibri" pitchFamily="34" charset="-120"/>
              </a:rPr>
              <a:t>Auto-calls help if no one responds in time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System architecture</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Every sensor feeds one central controller — which runs entirely on the device</a:t>
            </a:r>
            <a:endParaRPr lang="en-US" sz="1250" dirty="0"/>
          </a:p>
        </p:txBody>
      </p:sp>
      <p:sp>
        <p:nvSpPr>
          <p:cNvPr id="4" name="Shape 2"/>
          <p:cNvSpPr/>
          <p:nvPr/>
        </p:nvSpPr>
        <p:spPr>
          <a:xfrm>
            <a:off x="822960" y="1600200"/>
            <a:ext cx="3291840" cy="914400"/>
          </a:xfrm>
          <a:prstGeom prst="roundRect">
            <a:avLst>
              <a:gd name="adj" fmla="val 10000"/>
            </a:avLst>
          </a:prstGeom>
          <a:solidFill>
            <a:srgbClr val="E9EDF5"/>
          </a:solidFill>
          <a:ln w="9525">
            <a:solidFill>
              <a:srgbClr val="1B2A4A"/>
            </a:solidFill>
            <a:prstDash val="solid"/>
          </a:ln>
        </p:spPr>
      </p:sp>
      <p:sp>
        <p:nvSpPr>
          <p:cNvPr id="5" name="Text 3"/>
          <p:cNvSpPr/>
          <p:nvPr/>
        </p:nvSpPr>
        <p:spPr>
          <a:xfrm>
            <a:off x="960120" y="1691640"/>
            <a:ext cx="3017520" cy="36576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XIAO ESP32-S3 Sense</a:t>
            </a:r>
            <a:endParaRPr lang="en-US" sz="1250" dirty="0"/>
          </a:p>
        </p:txBody>
      </p:sp>
      <p:sp>
        <p:nvSpPr>
          <p:cNvPr id="6" name="Text 4"/>
          <p:cNvSpPr/>
          <p:nvPr/>
        </p:nvSpPr>
        <p:spPr>
          <a:xfrm>
            <a:off x="960120" y="2057400"/>
            <a:ext cx="3017520" cy="365760"/>
          </a:xfrm>
          <a:prstGeom prst="rect">
            <a:avLst/>
          </a:prstGeom>
          <a:noFill/>
          <a:ln/>
        </p:spPr>
        <p:txBody>
          <a:bodyPr wrap="square" rtlCol="0" anchor="ctr"/>
          <a:lstStyle/>
          <a:p>
            <a:pPr indent="0" marL="0">
              <a:buNone/>
            </a:pPr>
            <a:r>
              <a:rPr lang="en-US" sz="1050" dirty="0">
                <a:solidFill>
                  <a:srgbClr val="5C6B85"/>
                </a:solidFill>
                <a:latin typeface="Calibri" pitchFamily="34" charset="0"/>
                <a:ea typeface="Calibri" pitchFamily="34" charset="-122"/>
                <a:cs typeface="Calibri" pitchFamily="34" charset="-120"/>
              </a:rPr>
              <a:t>MCU + mic, on-device AI</a:t>
            </a:r>
            <a:endParaRPr lang="en-US" sz="1050" dirty="0"/>
          </a:p>
        </p:txBody>
      </p:sp>
      <p:sp>
        <p:nvSpPr>
          <p:cNvPr id="7" name="Shape 5"/>
          <p:cNvSpPr/>
          <p:nvPr/>
        </p:nvSpPr>
        <p:spPr>
          <a:xfrm>
            <a:off x="2468880" y="2514600"/>
            <a:ext cx="0" cy="548640"/>
          </a:xfrm>
          <a:prstGeom prst="line">
            <a:avLst/>
          </a:prstGeom>
          <a:noFill/>
          <a:ln w="15875">
            <a:solidFill>
              <a:srgbClr val="5C6B85"/>
            </a:solidFill>
            <a:prstDash val="solid"/>
            <a:tailEnd type="triangle"/>
          </a:ln>
        </p:spPr>
      </p:sp>
      <p:sp>
        <p:nvSpPr>
          <p:cNvPr id="8" name="Shape 6"/>
          <p:cNvSpPr/>
          <p:nvPr/>
        </p:nvSpPr>
        <p:spPr>
          <a:xfrm>
            <a:off x="4434840" y="1600200"/>
            <a:ext cx="3291840" cy="914400"/>
          </a:xfrm>
          <a:prstGeom prst="roundRect">
            <a:avLst>
              <a:gd name="adj" fmla="val 10000"/>
            </a:avLst>
          </a:prstGeom>
          <a:solidFill>
            <a:srgbClr val="E9EDF5"/>
          </a:solidFill>
          <a:ln w="9525">
            <a:solidFill>
              <a:srgbClr val="1B2A4A"/>
            </a:solidFill>
            <a:prstDash val="solid"/>
          </a:ln>
        </p:spPr>
      </p:sp>
      <p:sp>
        <p:nvSpPr>
          <p:cNvPr id="9" name="Text 7"/>
          <p:cNvSpPr/>
          <p:nvPr/>
        </p:nvSpPr>
        <p:spPr>
          <a:xfrm>
            <a:off x="4572000" y="1691640"/>
            <a:ext cx="3017520" cy="36576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MPU6050</a:t>
            </a:r>
            <a:endParaRPr lang="en-US" sz="1250" dirty="0"/>
          </a:p>
        </p:txBody>
      </p:sp>
      <p:sp>
        <p:nvSpPr>
          <p:cNvPr id="10" name="Text 8"/>
          <p:cNvSpPr/>
          <p:nvPr/>
        </p:nvSpPr>
        <p:spPr>
          <a:xfrm>
            <a:off x="4572000" y="2057400"/>
            <a:ext cx="3017520" cy="365760"/>
          </a:xfrm>
          <a:prstGeom prst="rect">
            <a:avLst/>
          </a:prstGeom>
          <a:noFill/>
          <a:ln/>
        </p:spPr>
        <p:txBody>
          <a:bodyPr wrap="square" rtlCol="0" anchor="ctr"/>
          <a:lstStyle/>
          <a:p>
            <a:pPr indent="0" marL="0">
              <a:buNone/>
            </a:pPr>
            <a:r>
              <a:rPr lang="en-US" sz="1050" dirty="0">
                <a:solidFill>
                  <a:srgbClr val="5C6B85"/>
                </a:solidFill>
                <a:latin typeface="Calibri" pitchFamily="34" charset="0"/>
                <a:ea typeface="Calibri" pitchFamily="34" charset="-122"/>
                <a:cs typeface="Calibri" pitchFamily="34" charset="-120"/>
              </a:rPr>
              <a:t>Shake, struggle &amp; fall detection</a:t>
            </a:r>
            <a:endParaRPr lang="en-US" sz="1050" dirty="0"/>
          </a:p>
        </p:txBody>
      </p:sp>
      <p:sp>
        <p:nvSpPr>
          <p:cNvPr id="11" name="Shape 9"/>
          <p:cNvSpPr/>
          <p:nvPr/>
        </p:nvSpPr>
        <p:spPr>
          <a:xfrm>
            <a:off x="6080760" y="2514600"/>
            <a:ext cx="0" cy="548640"/>
          </a:xfrm>
          <a:prstGeom prst="line">
            <a:avLst/>
          </a:prstGeom>
          <a:noFill/>
          <a:ln w="15875">
            <a:solidFill>
              <a:srgbClr val="5C6B85"/>
            </a:solidFill>
            <a:prstDash val="solid"/>
            <a:tailEnd type="triangle"/>
          </a:ln>
        </p:spPr>
      </p:sp>
      <p:sp>
        <p:nvSpPr>
          <p:cNvPr id="12" name="Shape 10"/>
          <p:cNvSpPr/>
          <p:nvPr/>
        </p:nvSpPr>
        <p:spPr>
          <a:xfrm>
            <a:off x="8046720" y="1600200"/>
            <a:ext cx="3291840" cy="914400"/>
          </a:xfrm>
          <a:prstGeom prst="roundRect">
            <a:avLst>
              <a:gd name="adj" fmla="val 10000"/>
            </a:avLst>
          </a:prstGeom>
          <a:solidFill>
            <a:srgbClr val="E9EDF5"/>
          </a:solidFill>
          <a:ln w="9525">
            <a:solidFill>
              <a:srgbClr val="1B2A4A"/>
            </a:solidFill>
            <a:prstDash val="solid"/>
          </a:ln>
        </p:spPr>
      </p:sp>
      <p:sp>
        <p:nvSpPr>
          <p:cNvPr id="13" name="Text 11"/>
          <p:cNvSpPr/>
          <p:nvPr/>
        </p:nvSpPr>
        <p:spPr>
          <a:xfrm>
            <a:off x="8183880" y="1691640"/>
            <a:ext cx="3017520" cy="36576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MAX30102</a:t>
            </a:r>
            <a:endParaRPr lang="en-US" sz="1250" dirty="0"/>
          </a:p>
        </p:txBody>
      </p:sp>
      <p:sp>
        <p:nvSpPr>
          <p:cNvPr id="14" name="Text 12"/>
          <p:cNvSpPr/>
          <p:nvPr/>
        </p:nvSpPr>
        <p:spPr>
          <a:xfrm>
            <a:off x="8183880" y="2057400"/>
            <a:ext cx="3017520" cy="365760"/>
          </a:xfrm>
          <a:prstGeom prst="rect">
            <a:avLst/>
          </a:prstGeom>
          <a:noFill/>
          <a:ln/>
        </p:spPr>
        <p:txBody>
          <a:bodyPr wrap="square" rtlCol="0" anchor="ctr"/>
          <a:lstStyle/>
          <a:p>
            <a:pPr indent="0" marL="0">
              <a:buNone/>
            </a:pPr>
            <a:r>
              <a:rPr lang="en-US" sz="1050" dirty="0">
                <a:solidFill>
                  <a:srgbClr val="5C6B85"/>
                </a:solidFill>
                <a:latin typeface="Calibri" pitchFamily="34" charset="0"/>
                <a:ea typeface="Calibri" pitchFamily="34" charset="-122"/>
                <a:cs typeface="Calibri" pitchFamily="34" charset="-120"/>
              </a:rPr>
              <a:t>Heart-rate spike confirmation</a:t>
            </a:r>
            <a:endParaRPr lang="en-US" sz="1050" dirty="0"/>
          </a:p>
        </p:txBody>
      </p:sp>
      <p:sp>
        <p:nvSpPr>
          <p:cNvPr id="15" name="Shape 13"/>
          <p:cNvSpPr/>
          <p:nvPr/>
        </p:nvSpPr>
        <p:spPr>
          <a:xfrm>
            <a:off x="9692640" y="2514600"/>
            <a:ext cx="0" cy="548640"/>
          </a:xfrm>
          <a:prstGeom prst="line">
            <a:avLst/>
          </a:prstGeom>
          <a:noFill/>
          <a:ln w="15875">
            <a:solidFill>
              <a:srgbClr val="5C6B85"/>
            </a:solidFill>
            <a:prstDash val="solid"/>
            <a:tailEnd type="triangle"/>
          </a:ln>
        </p:spPr>
      </p:sp>
      <p:sp>
        <p:nvSpPr>
          <p:cNvPr id="16" name="Shape 14"/>
          <p:cNvSpPr/>
          <p:nvPr/>
        </p:nvSpPr>
        <p:spPr>
          <a:xfrm>
            <a:off x="4434840" y="3063240"/>
            <a:ext cx="3291840" cy="914400"/>
          </a:xfrm>
          <a:prstGeom prst="roundRect">
            <a:avLst>
              <a:gd name="adj" fmla="val 10000"/>
            </a:avLst>
          </a:prstGeom>
          <a:solidFill>
            <a:srgbClr val="1B2A4A"/>
          </a:solidFill>
          <a:ln/>
        </p:spPr>
      </p:sp>
      <p:sp>
        <p:nvSpPr>
          <p:cNvPr id="17" name="Text 15"/>
          <p:cNvSpPr/>
          <p:nvPr/>
        </p:nvSpPr>
        <p:spPr>
          <a:xfrm>
            <a:off x="4572000" y="3154680"/>
            <a:ext cx="301752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Sensor fusion core</a:t>
            </a:r>
            <a:endParaRPr lang="en-US" sz="1350" dirty="0"/>
          </a:p>
        </p:txBody>
      </p:sp>
      <p:sp>
        <p:nvSpPr>
          <p:cNvPr id="18" name="Text 16"/>
          <p:cNvSpPr/>
          <p:nvPr/>
        </p:nvSpPr>
        <p:spPr>
          <a:xfrm>
            <a:off x="4572000" y="3502152"/>
            <a:ext cx="3017520" cy="365760"/>
          </a:xfrm>
          <a:prstGeom prst="rect">
            <a:avLst/>
          </a:prstGeom>
          <a:noFill/>
          <a:ln/>
        </p:spPr>
        <p:txBody>
          <a:bodyPr wrap="square" rtlCol="0" anchor="ctr"/>
          <a:lstStyle/>
          <a:p>
            <a:pPr indent="0" marL="0">
              <a:buNone/>
            </a:pPr>
            <a:r>
              <a:rPr lang="en-US" sz="1050" dirty="0">
                <a:solidFill>
                  <a:srgbClr val="E9EDF5"/>
                </a:solidFill>
                <a:latin typeface="Calibri" pitchFamily="34" charset="0"/>
                <a:ea typeface="Calibri" pitchFamily="34" charset="-122"/>
                <a:cs typeface="Calibri" pitchFamily="34" charset="-120"/>
              </a:rPr>
              <a:t>Runs the AI models + alert state machine</a:t>
            </a:r>
            <a:endParaRPr lang="en-US" sz="1050" dirty="0"/>
          </a:p>
        </p:txBody>
      </p:sp>
      <p:sp>
        <p:nvSpPr>
          <p:cNvPr id="19" name="Shape 17"/>
          <p:cNvSpPr/>
          <p:nvPr/>
        </p:nvSpPr>
        <p:spPr>
          <a:xfrm>
            <a:off x="2468880" y="3977640"/>
            <a:ext cx="0" cy="594360"/>
          </a:xfrm>
          <a:prstGeom prst="line">
            <a:avLst/>
          </a:prstGeom>
          <a:noFill/>
          <a:ln w="15875">
            <a:solidFill>
              <a:srgbClr val="5C6B85"/>
            </a:solidFill>
            <a:prstDash val="solid"/>
            <a:tailEnd type="triangle"/>
          </a:ln>
        </p:spPr>
      </p:sp>
      <p:sp>
        <p:nvSpPr>
          <p:cNvPr id="20" name="Shape 18"/>
          <p:cNvSpPr/>
          <p:nvPr/>
        </p:nvSpPr>
        <p:spPr>
          <a:xfrm>
            <a:off x="822960" y="4572000"/>
            <a:ext cx="3291840" cy="914400"/>
          </a:xfrm>
          <a:prstGeom prst="roundRect">
            <a:avLst>
              <a:gd name="adj" fmla="val 10000"/>
            </a:avLst>
          </a:prstGeom>
          <a:solidFill>
            <a:srgbClr val="E9EDF5"/>
          </a:solidFill>
          <a:ln w="9525">
            <a:solidFill>
              <a:srgbClr val="1B2A4A"/>
            </a:solidFill>
            <a:prstDash val="solid"/>
          </a:ln>
        </p:spPr>
      </p:sp>
      <p:sp>
        <p:nvSpPr>
          <p:cNvPr id="21" name="Text 19"/>
          <p:cNvSpPr/>
          <p:nvPr/>
        </p:nvSpPr>
        <p:spPr>
          <a:xfrm>
            <a:off x="960120" y="4663440"/>
            <a:ext cx="3017520" cy="36576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GSM — SIM800L</a:t>
            </a:r>
            <a:endParaRPr lang="en-US" sz="1250" dirty="0"/>
          </a:p>
        </p:txBody>
      </p:sp>
      <p:sp>
        <p:nvSpPr>
          <p:cNvPr id="22" name="Text 20"/>
          <p:cNvSpPr/>
          <p:nvPr/>
        </p:nvSpPr>
        <p:spPr>
          <a:xfrm>
            <a:off x="960120" y="5029200"/>
            <a:ext cx="3017520" cy="365760"/>
          </a:xfrm>
          <a:prstGeom prst="rect">
            <a:avLst/>
          </a:prstGeom>
          <a:noFill/>
          <a:ln/>
        </p:spPr>
        <p:txBody>
          <a:bodyPr wrap="square" rtlCol="0" anchor="ctr"/>
          <a:lstStyle/>
          <a:p>
            <a:pPr indent="0" marL="0">
              <a:buNone/>
            </a:pPr>
            <a:r>
              <a:rPr lang="en-US" sz="1050" dirty="0">
                <a:solidFill>
                  <a:srgbClr val="5C6B85"/>
                </a:solidFill>
                <a:latin typeface="Calibri" pitchFamily="34" charset="0"/>
                <a:ea typeface="Calibri" pitchFamily="34" charset="-122"/>
                <a:cs typeface="Calibri" pitchFamily="34" charset="-120"/>
              </a:rPr>
              <a:t>SMS + voice call, no phone needed</a:t>
            </a:r>
            <a:endParaRPr lang="en-US" sz="1050" dirty="0"/>
          </a:p>
        </p:txBody>
      </p:sp>
      <p:sp>
        <p:nvSpPr>
          <p:cNvPr id="23" name="Shape 21"/>
          <p:cNvSpPr/>
          <p:nvPr/>
        </p:nvSpPr>
        <p:spPr>
          <a:xfrm>
            <a:off x="6080760" y="3977640"/>
            <a:ext cx="0" cy="594360"/>
          </a:xfrm>
          <a:prstGeom prst="line">
            <a:avLst/>
          </a:prstGeom>
          <a:noFill/>
          <a:ln w="15875">
            <a:solidFill>
              <a:srgbClr val="5C6B85"/>
            </a:solidFill>
            <a:prstDash val="solid"/>
            <a:tailEnd type="triangle"/>
          </a:ln>
        </p:spPr>
      </p:sp>
      <p:sp>
        <p:nvSpPr>
          <p:cNvPr id="24" name="Shape 22"/>
          <p:cNvSpPr/>
          <p:nvPr/>
        </p:nvSpPr>
        <p:spPr>
          <a:xfrm>
            <a:off x="4434840" y="4572000"/>
            <a:ext cx="3291840" cy="914400"/>
          </a:xfrm>
          <a:prstGeom prst="roundRect">
            <a:avLst>
              <a:gd name="adj" fmla="val 10000"/>
            </a:avLst>
          </a:prstGeom>
          <a:solidFill>
            <a:srgbClr val="E9EDF5"/>
          </a:solidFill>
          <a:ln w="9525">
            <a:solidFill>
              <a:srgbClr val="1B2A4A"/>
            </a:solidFill>
            <a:prstDash val="solid"/>
          </a:ln>
        </p:spPr>
      </p:sp>
      <p:sp>
        <p:nvSpPr>
          <p:cNvPr id="25" name="Text 23"/>
          <p:cNvSpPr/>
          <p:nvPr/>
        </p:nvSpPr>
        <p:spPr>
          <a:xfrm>
            <a:off x="4572000" y="4663440"/>
            <a:ext cx="3017520" cy="36576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Tamper loop</a:t>
            </a:r>
            <a:endParaRPr lang="en-US" sz="1250" dirty="0"/>
          </a:p>
        </p:txBody>
      </p:sp>
      <p:sp>
        <p:nvSpPr>
          <p:cNvPr id="26" name="Text 24"/>
          <p:cNvSpPr/>
          <p:nvPr/>
        </p:nvSpPr>
        <p:spPr>
          <a:xfrm>
            <a:off x="4572000" y="5029200"/>
            <a:ext cx="3017520" cy="365760"/>
          </a:xfrm>
          <a:prstGeom prst="rect">
            <a:avLst/>
          </a:prstGeom>
          <a:noFill/>
          <a:ln/>
        </p:spPr>
        <p:txBody>
          <a:bodyPr wrap="square" rtlCol="0" anchor="ctr"/>
          <a:lstStyle/>
          <a:p>
            <a:pPr indent="0" marL="0">
              <a:buNone/>
            </a:pPr>
            <a:r>
              <a:rPr lang="en-US" sz="1050" dirty="0">
                <a:solidFill>
                  <a:srgbClr val="5C6B85"/>
                </a:solidFill>
                <a:latin typeface="Calibri" pitchFamily="34" charset="0"/>
                <a:ea typeface="Calibri" pitchFamily="34" charset="-122"/>
                <a:cs typeface="Calibri" pitchFamily="34" charset="-120"/>
              </a:rPr>
              <a:t>Detects forced strap removal</a:t>
            </a:r>
            <a:endParaRPr lang="en-US" sz="1050" dirty="0"/>
          </a:p>
        </p:txBody>
      </p:sp>
      <p:sp>
        <p:nvSpPr>
          <p:cNvPr id="27" name="Shape 25"/>
          <p:cNvSpPr/>
          <p:nvPr/>
        </p:nvSpPr>
        <p:spPr>
          <a:xfrm>
            <a:off x="9692640" y="3977640"/>
            <a:ext cx="0" cy="594360"/>
          </a:xfrm>
          <a:prstGeom prst="line">
            <a:avLst/>
          </a:prstGeom>
          <a:noFill/>
          <a:ln w="15875">
            <a:solidFill>
              <a:srgbClr val="5C6B85"/>
            </a:solidFill>
            <a:prstDash val="solid"/>
            <a:tailEnd type="triangle"/>
          </a:ln>
        </p:spPr>
      </p:sp>
      <p:sp>
        <p:nvSpPr>
          <p:cNvPr id="28" name="Shape 26"/>
          <p:cNvSpPr/>
          <p:nvPr/>
        </p:nvSpPr>
        <p:spPr>
          <a:xfrm>
            <a:off x="8046720" y="4572000"/>
            <a:ext cx="3291840" cy="914400"/>
          </a:xfrm>
          <a:prstGeom prst="roundRect">
            <a:avLst>
              <a:gd name="adj" fmla="val 10000"/>
            </a:avLst>
          </a:prstGeom>
          <a:solidFill>
            <a:srgbClr val="E9EDF5"/>
          </a:solidFill>
          <a:ln w="9525">
            <a:solidFill>
              <a:srgbClr val="1B2A4A"/>
            </a:solidFill>
            <a:prstDash val="solid"/>
          </a:ln>
        </p:spPr>
      </p:sp>
      <p:sp>
        <p:nvSpPr>
          <p:cNvPr id="29" name="Text 27"/>
          <p:cNvSpPr/>
          <p:nvPr/>
        </p:nvSpPr>
        <p:spPr>
          <a:xfrm>
            <a:off x="8183880" y="4663440"/>
            <a:ext cx="3017520" cy="365760"/>
          </a:xfrm>
          <a:prstGeom prst="rect">
            <a:avLst/>
          </a:prstGeom>
          <a:noFill/>
          <a:ln/>
        </p:spPr>
        <p:txBody>
          <a:bodyPr wrap="square"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GPS — NEO-6M</a:t>
            </a:r>
            <a:endParaRPr lang="en-US" sz="1250" dirty="0"/>
          </a:p>
        </p:txBody>
      </p:sp>
      <p:sp>
        <p:nvSpPr>
          <p:cNvPr id="30" name="Text 28"/>
          <p:cNvSpPr/>
          <p:nvPr/>
        </p:nvSpPr>
        <p:spPr>
          <a:xfrm>
            <a:off x="8183880" y="5029200"/>
            <a:ext cx="3017520" cy="365760"/>
          </a:xfrm>
          <a:prstGeom prst="rect">
            <a:avLst/>
          </a:prstGeom>
          <a:noFill/>
          <a:ln/>
        </p:spPr>
        <p:txBody>
          <a:bodyPr wrap="square" rtlCol="0" anchor="ctr"/>
          <a:lstStyle/>
          <a:p>
            <a:pPr indent="0" marL="0">
              <a:buNone/>
            </a:pPr>
            <a:r>
              <a:rPr lang="en-US" sz="1050" dirty="0">
                <a:solidFill>
                  <a:srgbClr val="5C6B85"/>
                </a:solidFill>
                <a:latin typeface="Calibri" pitchFamily="34" charset="0"/>
                <a:ea typeface="Calibri" pitchFamily="34" charset="-122"/>
                <a:cs typeface="Calibri" pitchFamily="34" charset="-120"/>
              </a:rPr>
              <a:t>Live location for the SOS message</a:t>
            </a:r>
            <a:endParaRPr lang="en-US" sz="1050" dirty="0"/>
          </a:p>
        </p:txBody>
      </p:sp>
      <p:sp>
        <p:nvSpPr>
          <p:cNvPr id="31" name="Text 29"/>
          <p:cNvSpPr/>
          <p:nvPr/>
        </p:nvSpPr>
        <p:spPr>
          <a:xfrm>
            <a:off x="822960" y="5715000"/>
            <a:ext cx="10515600" cy="548640"/>
          </a:xfrm>
          <a:prstGeom prst="rect">
            <a:avLst/>
          </a:prstGeom>
          <a:noFill/>
          <a:ln/>
        </p:spPr>
        <p:txBody>
          <a:bodyPr wrap="square" rtlCol="0" anchor="ctr"/>
          <a:lstStyle/>
          <a:p>
            <a:pPr indent="0" marL="0">
              <a:buNone/>
            </a:pPr>
            <a:r>
              <a:rPr lang="en-US" sz="1150" i="1" dirty="0">
                <a:solidFill>
                  <a:srgbClr val="5C6B85"/>
                </a:solidFill>
                <a:latin typeface="Calibri" pitchFamily="34" charset="0"/>
                <a:ea typeface="Calibri" pitchFamily="34" charset="-122"/>
                <a:cs typeface="Calibri" pitchFamily="34" charset="-120"/>
              </a:rPr>
              <a:t>All communication runs over the device's own SIM — it never depends on a paired smartphone being present, charged, or unlocked.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Two AI engines, running fully offline</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E9EDF5"/>
                </a:solidFill>
                <a:latin typeface="Calibri" pitchFamily="34" charset="0"/>
                <a:ea typeface="Calibri" pitchFamily="34" charset="-122"/>
                <a:cs typeface="Calibri" pitchFamily="34" charset="-120"/>
              </a:rPr>
              <a:t>No cloud dependency — detection works even with zero connectivity</a:t>
            </a:r>
            <a:endParaRPr lang="en-US" sz="1250" dirty="0"/>
          </a:p>
        </p:txBody>
      </p:sp>
      <p:sp>
        <p:nvSpPr>
          <p:cNvPr id="4" name="Shape 2"/>
          <p:cNvSpPr/>
          <p:nvPr/>
        </p:nvSpPr>
        <p:spPr>
          <a:xfrm>
            <a:off x="548640" y="1691640"/>
            <a:ext cx="5349240" cy="3931920"/>
          </a:xfrm>
          <a:prstGeom prst="roundRect">
            <a:avLst>
              <a:gd name="adj" fmla="val 2791"/>
            </a:avLst>
          </a:prstGeom>
          <a:solidFill>
            <a:srgbClr val="2A3D63"/>
          </a:solidFill>
          <a:ln/>
        </p:spPr>
      </p:sp>
      <p:sp>
        <p:nvSpPr>
          <p:cNvPr id="5" name="Text 3"/>
          <p:cNvSpPr/>
          <p:nvPr/>
        </p:nvSpPr>
        <p:spPr>
          <a:xfrm>
            <a:off x="777240" y="1920240"/>
            <a:ext cx="4892040" cy="457200"/>
          </a:xfrm>
          <a:prstGeom prst="rect">
            <a:avLst/>
          </a:prstGeom>
          <a:noFill/>
          <a:ln/>
        </p:spPr>
        <p:txBody>
          <a:bodyPr wrap="square" rtlCol="0" anchor="ctr"/>
          <a:lstStyle/>
          <a:p>
            <a:pPr indent="0" marL="0">
              <a:buNone/>
            </a:pPr>
            <a:r>
              <a:rPr lang="en-US" sz="1600" b="1" dirty="0">
                <a:solidFill>
                  <a:srgbClr val="E8593C"/>
                </a:solidFill>
                <a:latin typeface="Calibri" pitchFamily="34" charset="0"/>
                <a:ea typeface="Calibri" pitchFamily="34" charset="-122"/>
                <a:cs typeface="Calibri" pitchFamily="34" charset="-120"/>
              </a:rPr>
              <a:t>Engine A — Scream classification</a:t>
            </a:r>
            <a:endParaRPr lang="en-US" sz="1600" dirty="0"/>
          </a:p>
        </p:txBody>
      </p:sp>
      <p:sp>
        <p:nvSpPr>
          <p:cNvPr id="6" name="Text 4"/>
          <p:cNvSpPr/>
          <p:nvPr/>
        </p:nvSpPr>
        <p:spPr>
          <a:xfrm>
            <a:off x="777240" y="2468880"/>
            <a:ext cx="4892040" cy="1828800"/>
          </a:xfrm>
          <a:prstGeom prst="rect">
            <a:avLst/>
          </a:prstGeom>
          <a:noFill/>
          <a:ln/>
        </p:spPr>
        <p:txBody>
          <a:bodyPr wrap="square" rtlCol="0" anchor="t"/>
          <a:lstStyle/>
          <a:p>
            <a:pPr indent="0" marL="0">
              <a:lnSpc>
                <a:spcPct val="135000"/>
              </a:lnSpc>
              <a:buNone/>
            </a:pPr>
            <a:r>
              <a:rPr lang="en-US" sz="1250" dirty="0">
                <a:solidFill>
                  <a:srgbClr val="E9EDF5"/>
                </a:solidFill>
                <a:latin typeface="Calibri" pitchFamily="34" charset="0"/>
                <a:ea typeface="Calibri" pitchFamily="34" charset="-122"/>
                <a:cs typeface="Calibri" pitchFamily="34" charset="-120"/>
              </a:rPr>
              <a:t>A 1D convolutional neural network trained via Edge Impulse, running entirely on-device. Classifies live audio into scream / silence / background noise using MFCC features (13 coefficients, 32 filters, 8kHz cutoff) over a 1,000ms sliding window with 500ms stride.</a:t>
            </a:r>
            <a:endParaRPr lang="en-US" sz="1250" dirty="0"/>
          </a:p>
        </p:txBody>
      </p:sp>
      <p:sp>
        <p:nvSpPr>
          <p:cNvPr id="7" name="Text 5"/>
          <p:cNvSpPr/>
          <p:nvPr/>
        </p:nvSpPr>
        <p:spPr>
          <a:xfrm>
            <a:off x="777240" y="5074920"/>
            <a:ext cx="4892040" cy="365760"/>
          </a:xfrm>
          <a:prstGeom prst="rect">
            <a:avLst/>
          </a:prstGeom>
          <a:noFill/>
          <a:ln/>
        </p:spPr>
        <p:txBody>
          <a:bodyPr wrap="square" rtlCol="0" anchor="ctr"/>
          <a:lstStyle/>
          <a:p>
            <a:pPr indent="0" marL="0">
              <a:buNone/>
            </a:pPr>
            <a:r>
              <a:rPr lang="en-US" sz="1050" i="1" dirty="0">
                <a:solidFill>
                  <a:srgbClr val="5C6B85"/>
                </a:solidFill>
                <a:latin typeface="Calibri" pitchFamily="34" charset="0"/>
                <a:ea typeface="Calibri" pitchFamily="34" charset="-122"/>
                <a:cs typeface="Calibri" pitchFamily="34" charset="-120"/>
              </a:rPr>
              <a:t>Target: 85%+ classification accuracy before field deployment</a:t>
            </a:r>
            <a:endParaRPr lang="en-US" sz="1050" dirty="0"/>
          </a:p>
        </p:txBody>
      </p:sp>
      <p:sp>
        <p:nvSpPr>
          <p:cNvPr id="8" name="Shape 6"/>
          <p:cNvSpPr/>
          <p:nvPr/>
        </p:nvSpPr>
        <p:spPr>
          <a:xfrm>
            <a:off x="6263640" y="1691640"/>
            <a:ext cx="5349240" cy="3931920"/>
          </a:xfrm>
          <a:prstGeom prst="roundRect">
            <a:avLst>
              <a:gd name="adj" fmla="val 2791"/>
            </a:avLst>
          </a:prstGeom>
          <a:solidFill>
            <a:srgbClr val="2A3D63"/>
          </a:solidFill>
          <a:ln/>
        </p:spPr>
      </p:sp>
      <p:sp>
        <p:nvSpPr>
          <p:cNvPr id="9" name="Text 7"/>
          <p:cNvSpPr/>
          <p:nvPr/>
        </p:nvSpPr>
        <p:spPr>
          <a:xfrm>
            <a:off x="6492240" y="1920240"/>
            <a:ext cx="4892040" cy="457200"/>
          </a:xfrm>
          <a:prstGeom prst="rect">
            <a:avLst/>
          </a:prstGeom>
          <a:noFill/>
          <a:ln/>
        </p:spPr>
        <p:txBody>
          <a:bodyPr wrap="square" rtlCol="0" anchor="ctr"/>
          <a:lstStyle/>
          <a:p>
            <a:pPr indent="0" marL="0">
              <a:buNone/>
            </a:pPr>
            <a:r>
              <a:rPr lang="en-US" sz="1600" b="1" dirty="0">
                <a:solidFill>
                  <a:srgbClr val="E8593C"/>
                </a:solidFill>
                <a:latin typeface="Calibri" pitchFamily="34" charset="0"/>
                <a:ea typeface="Calibri" pitchFamily="34" charset="-122"/>
                <a:cs typeface="Calibri" pitchFamily="34" charset="-120"/>
              </a:rPr>
              <a:t>Engine B — Safe-word matching</a:t>
            </a:r>
            <a:endParaRPr lang="en-US" sz="1600" dirty="0"/>
          </a:p>
        </p:txBody>
      </p:sp>
      <p:sp>
        <p:nvSpPr>
          <p:cNvPr id="10" name="Text 8"/>
          <p:cNvSpPr/>
          <p:nvPr/>
        </p:nvSpPr>
        <p:spPr>
          <a:xfrm>
            <a:off x="6492240" y="2468880"/>
            <a:ext cx="4892040" cy="1828800"/>
          </a:xfrm>
          <a:prstGeom prst="rect">
            <a:avLst/>
          </a:prstGeom>
          <a:noFill/>
          <a:ln/>
        </p:spPr>
        <p:txBody>
          <a:bodyPr wrap="square" rtlCol="0" anchor="t"/>
          <a:lstStyle/>
          <a:p>
            <a:pPr indent="0" marL="0">
              <a:lnSpc>
                <a:spcPct val="135000"/>
              </a:lnSpc>
              <a:buNone/>
            </a:pPr>
            <a:r>
              <a:rPr lang="en-US" sz="1250" dirty="0">
                <a:solidFill>
                  <a:srgbClr val="E9EDF5"/>
                </a:solidFill>
                <a:latin typeface="Calibri" pitchFamily="34" charset="0"/>
                <a:ea typeface="Calibri" pitchFamily="34" charset="-122"/>
                <a:cs typeface="Calibri" pitchFamily="34" charset="-120"/>
              </a:rPr>
              <a:t>A Dynamic Time Warping algorithm running alongside the neural network. The wearer records a custom 3–4 syllable safe-word during setup; the device stores an MFCC template and continuously compares live audio against it — no retraining or cloud connection needed.</a:t>
            </a:r>
            <a:endParaRPr lang="en-US" sz="1250" dirty="0"/>
          </a:p>
        </p:txBody>
      </p:sp>
      <p:sp>
        <p:nvSpPr>
          <p:cNvPr id="11" name="Text 9"/>
          <p:cNvSpPr/>
          <p:nvPr/>
        </p:nvSpPr>
        <p:spPr>
          <a:xfrm>
            <a:off x="6492240" y="5074920"/>
            <a:ext cx="4892040" cy="365760"/>
          </a:xfrm>
          <a:prstGeom prst="rect">
            <a:avLst/>
          </a:prstGeom>
          <a:noFill/>
          <a:ln/>
        </p:spPr>
        <p:txBody>
          <a:bodyPr wrap="square" rtlCol="0" anchor="ctr"/>
          <a:lstStyle/>
          <a:p>
            <a:pPr indent="0" marL="0">
              <a:buNone/>
            </a:pPr>
            <a:r>
              <a:rPr lang="en-US" sz="1050" i="1" dirty="0">
                <a:solidFill>
                  <a:srgbClr val="5C6B85"/>
                </a:solidFill>
                <a:latin typeface="Calibri" pitchFamily="34" charset="0"/>
                <a:ea typeface="Calibri" pitchFamily="34" charset="-122"/>
                <a:cs typeface="Calibri" pitchFamily="34" charset="-120"/>
              </a:rPr>
              <a:t>Fully user-customizable, works offline, matches in real time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Trigger fusion logic</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Only the highest-confidence signals fire alone — everything else needs corroboration</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0881360" cy="2651760"/>
        </p:xfrm>
        <a:graphic>
          <a:graphicData uri="http://schemas.openxmlformats.org/drawingml/2006/table">
            <a:tbl>
              <a:tblPr/>
              <a:tblGrid>
                <a:gridCol w="4114800"/>
                <a:gridCol w="6766560"/>
              </a:tblGrid>
              <a:tr h="4419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Behavior</a:t>
                      </a:r>
                      <a:endParaRPr lang="en-US" sz="12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r>
              <a:tr h="44196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Tamper loop broken</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Fires instantly — no confirmation needed</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4196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Safe-word matched (DTW)</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Fires instantly — deliberate, high-confidence</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4196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Scream classified (ML)</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Requires heart-rate spike OR motion signal within a short window</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4196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Heart-rate spike alone</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Never triggers alone — confirmation signal only</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41960">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Violent shake / struggle / fall</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indent="0" marL="0">
                        <a:buNone/>
                      </a:pPr>
                      <a:r>
                        <a:rPr lang="en-US" sz="1200" dirty="0">
                          <a:solidFill>
                            <a:srgbClr val="1B2A4A"/>
                          </a:solidFill>
                          <a:latin typeface="Calibri" pitchFamily="34" charset="0"/>
                          <a:ea typeface="Calibri" pitchFamily="34" charset="-122"/>
                          <a:cs typeface="Calibri" pitchFamily="34" charset="-120"/>
                        </a:rPr>
                        <a:t>Fires after a brief confirmation window (0.4–1.2s)</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526280"/>
            <a:ext cx="10881360" cy="365760"/>
          </a:xfrm>
          <a:prstGeom prst="rect">
            <a:avLst/>
          </a:prstGeom>
          <a:noFill/>
          <a:ln/>
        </p:spPr>
        <p:txBody>
          <a:bodyPr wrap="square"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NORMAL_MODE → SETUP_MODE → ALARM_MODE</a:t>
            </a:r>
            <a:endParaRPr lang="en-US" sz="1500" dirty="0"/>
          </a:p>
        </p:txBody>
      </p:sp>
      <p:sp>
        <p:nvSpPr>
          <p:cNvPr id="6" name="Text 3"/>
          <p:cNvSpPr/>
          <p:nvPr/>
        </p:nvSpPr>
        <p:spPr>
          <a:xfrm>
            <a:off x="548640" y="4892040"/>
            <a:ext cx="10881360" cy="1188720"/>
          </a:xfrm>
          <a:prstGeom prst="rect">
            <a:avLst/>
          </a:prstGeom>
          <a:noFill/>
          <a:ln/>
        </p:spPr>
        <p:txBody>
          <a:bodyPr wrap="square" rtlCol="0" anchor="t"/>
          <a:lstStyle/>
          <a:p>
            <a:pPr indent="0" marL="0">
              <a:lnSpc>
                <a:spcPct val="130000"/>
              </a:lnSpc>
              <a:buNone/>
            </a:pPr>
            <a:r>
              <a:rPr lang="en-US" sz="1200" dirty="0">
                <a:solidFill>
                  <a:srgbClr val="5C6B85"/>
                </a:solidFill>
                <a:latin typeface="Calibri" pitchFamily="34" charset="0"/>
                <a:ea typeface="Calibri" pitchFamily="34" charset="-122"/>
                <a:cs typeface="Calibri" pitchFamily="34" charset="-120"/>
              </a:rPr>
              <a:t>SETUP_MODE is entered only by a physical button press — used to calmly record a safe-word beforehand. It's the one legitimate use of a button in the whole system, since it happens outside of any emergency. ALARM_MODE fetches GPS, sends an SOS SMS, sounds the siren, and auto-escalates to a police call if a trusted contact doesn't cancel within 20 seconds.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Message flow from trigger to resolution</a:t>
            </a:r>
            <a:endParaRPr lang="en-US" sz="2600" dirty="0"/>
          </a:p>
        </p:txBody>
      </p:sp>
      <p:sp>
        <p:nvSpPr>
          <p:cNvPr id="3" name="Shape 1"/>
          <p:cNvSpPr/>
          <p:nvPr/>
        </p:nvSpPr>
        <p:spPr>
          <a:xfrm>
            <a:off x="731520" y="1417320"/>
            <a:ext cx="2011680" cy="502920"/>
          </a:xfrm>
          <a:prstGeom prst="roundRect">
            <a:avLst>
              <a:gd name="adj" fmla="val 14545"/>
            </a:avLst>
          </a:prstGeom>
          <a:solidFill>
            <a:srgbClr val="2A3D63"/>
          </a:solidFill>
          <a:ln/>
        </p:spPr>
      </p:sp>
      <p:sp>
        <p:nvSpPr>
          <p:cNvPr id="4" name="Text 2"/>
          <p:cNvSpPr/>
          <p:nvPr/>
        </p:nvSpPr>
        <p:spPr>
          <a:xfrm>
            <a:off x="731520" y="1417320"/>
            <a:ext cx="201168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Bracelet</a:t>
            </a:r>
            <a:endParaRPr lang="en-US" sz="1050" dirty="0"/>
          </a:p>
        </p:txBody>
      </p:sp>
      <p:sp>
        <p:nvSpPr>
          <p:cNvPr id="5" name="Shape 3"/>
          <p:cNvSpPr/>
          <p:nvPr/>
        </p:nvSpPr>
        <p:spPr>
          <a:xfrm>
            <a:off x="1737360" y="1920240"/>
            <a:ext cx="0" cy="3794760"/>
          </a:xfrm>
          <a:prstGeom prst="line">
            <a:avLst/>
          </a:prstGeom>
          <a:noFill/>
          <a:ln w="9525">
            <a:solidFill>
              <a:srgbClr val="E9EDF5">
                <a:alpha val="60000"/>
              </a:srgbClr>
            </a:solidFill>
            <a:prstDash val="dash"/>
          </a:ln>
        </p:spPr>
      </p:sp>
      <p:sp>
        <p:nvSpPr>
          <p:cNvPr id="6" name="Shape 4"/>
          <p:cNvSpPr/>
          <p:nvPr/>
        </p:nvSpPr>
        <p:spPr>
          <a:xfrm>
            <a:off x="3749040" y="1417320"/>
            <a:ext cx="2011680" cy="502920"/>
          </a:xfrm>
          <a:prstGeom prst="roundRect">
            <a:avLst>
              <a:gd name="adj" fmla="val 14545"/>
            </a:avLst>
          </a:prstGeom>
          <a:solidFill>
            <a:srgbClr val="2A3D63"/>
          </a:solidFill>
          <a:ln/>
        </p:spPr>
      </p:sp>
      <p:sp>
        <p:nvSpPr>
          <p:cNvPr id="7" name="Text 5"/>
          <p:cNvSpPr/>
          <p:nvPr/>
        </p:nvSpPr>
        <p:spPr>
          <a:xfrm>
            <a:off x="3749040" y="1417320"/>
            <a:ext cx="201168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GPS / GSM modules</a:t>
            </a:r>
            <a:endParaRPr lang="en-US" sz="1050" dirty="0"/>
          </a:p>
        </p:txBody>
      </p:sp>
      <p:sp>
        <p:nvSpPr>
          <p:cNvPr id="8" name="Shape 6"/>
          <p:cNvSpPr/>
          <p:nvPr/>
        </p:nvSpPr>
        <p:spPr>
          <a:xfrm>
            <a:off x="4754880" y="1920240"/>
            <a:ext cx="0" cy="3794760"/>
          </a:xfrm>
          <a:prstGeom prst="line">
            <a:avLst/>
          </a:prstGeom>
          <a:noFill/>
          <a:ln w="9525">
            <a:solidFill>
              <a:srgbClr val="E9EDF5">
                <a:alpha val="60000"/>
              </a:srgbClr>
            </a:solidFill>
            <a:prstDash val="dash"/>
          </a:ln>
        </p:spPr>
      </p:sp>
      <p:sp>
        <p:nvSpPr>
          <p:cNvPr id="9" name="Shape 7"/>
          <p:cNvSpPr/>
          <p:nvPr/>
        </p:nvSpPr>
        <p:spPr>
          <a:xfrm>
            <a:off x="6766560" y="1417320"/>
            <a:ext cx="2011680" cy="502920"/>
          </a:xfrm>
          <a:prstGeom prst="roundRect">
            <a:avLst>
              <a:gd name="adj" fmla="val 14545"/>
            </a:avLst>
          </a:prstGeom>
          <a:solidFill>
            <a:srgbClr val="2A3D63"/>
          </a:solidFill>
          <a:ln/>
        </p:spPr>
      </p:sp>
      <p:sp>
        <p:nvSpPr>
          <p:cNvPr id="10" name="Text 8"/>
          <p:cNvSpPr/>
          <p:nvPr/>
        </p:nvSpPr>
        <p:spPr>
          <a:xfrm>
            <a:off x="6766560" y="1417320"/>
            <a:ext cx="201168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Emergency contacts</a:t>
            </a:r>
            <a:endParaRPr lang="en-US" sz="1050" dirty="0"/>
          </a:p>
        </p:txBody>
      </p:sp>
      <p:sp>
        <p:nvSpPr>
          <p:cNvPr id="11" name="Shape 9"/>
          <p:cNvSpPr/>
          <p:nvPr/>
        </p:nvSpPr>
        <p:spPr>
          <a:xfrm>
            <a:off x="7772400" y="1920240"/>
            <a:ext cx="0" cy="3794760"/>
          </a:xfrm>
          <a:prstGeom prst="line">
            <a:avLst/>
          </a:prstGeom>
          <a:noFill/>
          <a:ln w="9525">
            <a:solidFill>
              <a:srgbClr val="E9EDF5">
                <a:alpha val="60000"/>
              </a:srgbClr>
            </a:solidFill>
            <a:prstDash val="dash"/>
          </a:ln>
        </p:spPr>
      </p:sp>
      <p:sp>
        <p:nvSpPr>
          <p:cNvPr id="12" name="Shape 10"/>
          <p:cNvSpPr/>
          <p:nvPr/>
        </p:nvSpPr>
        <p:spPr>
          <a:xfrm>
            <a:off x="9418320" y="1417320"/>
            <a:ext cx="2011680" cy="502920"/>
          </a:xfrm>
          <a:prstGeom prst="roundRect">
            <a:avLst>
              <a:gd name="adj" fmla="val 14545"/>
            </a:avLst>
          </a:prstGeom>
          <a:solidFill>
            <a:srgbClr val="2A3D63"/>
          </a:solidFill>
          <a:ln/>
        </p:spPr>
      </p:sp>
      <p:sp>
        <p:nvSpPr>
          <p:cNvPr id="13" name="Text 11"/>
          <p:cNvSpPr/>
          <p:nvPr/>
        </p:nvSpPr>
        <p:spPr>
          <a:xfrm>
            <a:off x="9418320" y="1417320"/>
            <a:ext cx="201168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Police</a:t>
            </a:r>
            <a:endParaRPr lang="en-US" sz="1050" dirty="0"/>
          </a:p>
        </p:txBody>
      </p:sp>
      <p:sp>
        <p:nvSpPr>
          <p:cNvPr id="14" name="Shape 12"/>
          <p:cNvSpPr/>
          <p:nvPr/>
        </p:nvSpPr>
        <p:spPr>
          <a:xfrm>
            <a:off x="10424160" y="1920240"/>
            <a:ext cx="0" cy="3794760"/>
          </a:xfrm>
          <a:prstGeom prst="line">
            <a:avLst/>
          </a:prstGeom>
          <a:noFill/>
          <a:ln w="9525">
            <a:solidFill>
              <a:srgbClr val="E9EDF5">
                <a:alpha val="60000"/>
              </a:srgbClr>
            </a:solidFill>
            <a:prstDash val="dash"/>
          </a:ln>
        </p:spPr>
      </p:sp>
      <p:sp>
        <p:nvSpPr>
          <p:cNvPr id="15" name="Shape 13"/>
          <p:cNvSpPr/>
          <p:nvPr/>
        </p:nvSpPr>
        <p:spPr>
          <a:xfrm>
            <a:off x="1737360" y="2331720"/>
            <a:ext cx="3017520" cy="0"/>
          </a:xfrm>
          <a:prstGeom prst="line">
            <a:avLst/>
          </a:prstGeom>
          <a:noFill/>
          <a:ln w="15875">
            <a:solidFill>
              <a:srgbClr val="E8593C"/>
            </a:solidFill>
            <a:prstDash val="solid"/>
            <a:tailEnd type="triangle"/>
          </a:ln>
        </p:spPr>
      </p:sp>
      <p:sp>
        <p:nvSpPr>
          <p:cNvPr id="16" name="Text 14"/>
          <p:cNvSpPr/>
          <p:nvPr/>
        </p:nvSpPr>
        <p:spPr>
          <a:xfrm>
            <a:off x="1737360" y="2039112"/>
            <a:ext cx="3017520" cy="27432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fetch GPS + build SOS message</a:t>
            </a:r>
            <a:endParaRPr lang="en-US" sz="950" dirty="0"/>
          </a:p>
        </p:txBody>
      </p:sp>
      <p:sp>
        <p:nvSpPr>
          <p:cNvPr id="17" name="Shape 15"/>
          <p:cNvSpPr/>
          <p:nvPr/>
        </p:nvSpPr>
        <p:spPr>
          <a:xfrm>
            <a:off x="4754880" y="2880360"/>
            <a:ext cx="3017520" cy="0"/>
          </a:xfrm>
          <a:prstGeom prst="line">
            <a:avLst/>
          </a:prstGeom>
          <a:noFill/>
          <a:ln w="15875">
            <a:solidFill>
              <a:srgbClr val="E8593C"/>
            </a:solidFill>
            <a:prstDash val="solid"/>
            <a:tailEnd type="triangle"/>
          </a:ln>
        </p:spPr>
      </p:sp>
      <p:sp>
        <p:nvSpPr>
          <p:cNvPr id="18" name="Text 16"/>
          <p:cNvSpPr/>
          <p:nvPr/>
        </p:nvSpPr>
        <p:spPr>
          <a:xfrm>
            <a:off x="4754880" y="2587752"/>
            <a:ext cx="3017520" cy="27432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send SOS SMS with maps link</a:t>
            </a:r>
            <a:endParaRPr lang="en-US" sz="950" dirty="0"/>
          </a:p>
        </p:txBody>
      </p:sp>
      <p:sp>
        <p:nvSpPr>
          <p:cNvPr id="19" name="Shape 17"/>
          <p:cNvSpPr/>
          <p:nvPr/>
        </p:nvSpPr>
        <p:spPr>
          <a:xfrm>
            <a:off x="4754880" y="3429000"/>
            <a:ext cx="3017520" cy="0"/>
          </a:xfrm>
          <a:prstGeom prst="line">
            <a:avLst/>
          </a:prstGeom>
          <a:noFill/>
          <a:ln w="15875">
            <a:solidFill>
              <a:srgbClr val="E8593C"/>
            </a:solidFill>
            <a:prstDash val="solid"/>
            <a:tailEnd type="triangle"/>
          </a:ln>
        </p:spPr>
      </p:sp>
      <p:sp>
        <p:nvSpPr>
          <p:cNvPr id="20" name="Text 18"/>
          <p:cNvSpPr/>
          <p:nvPr/>
        </p:nvSpPr>
        <p:spPr>
          <a:xfrm>
            <a:off x="4754880" y="3136392"/>
            <a:ext cx="3017520" cy="27432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location update (repeats every 45s)</a:t>
            </a:r>
            <a:endParaRPr lang="en-US" sz="950" dirty="0"/>
          </a:p>
        </p:txBody>
      </p:sp>
      <p:sp>
        <p:nvSpPr>
          <p:cNvPr id="21" name="Shape 19"/>
          <p:cNvSpPr/>
          <p:nvPr/>
        </p:nvSpPr>
        <p:spPr>
          <a:xfrm flipH="1">
            <a:off x="1737360" y="4114800"/>
            <a:ext cx="6035040" cy="0"/>
          </a:xfrm>
          <a:prstGeom prst="line">
            <a:avLst/>
          </a:prstGeom>
          <a:noFill/>
          <a:ln w="15875">
            <a:solidFill>
              <a:srgbClr val="E8593C"/>
            </a:solidFill>
            <a:prstDash val="dash"/>
            <a:tailEnd type="triangle"/>
          </a:ln>
        </p:spPr>
      </p:sp>
      <p:sp>
        <p:nvSpPr>
          <p:cNvPr id="22" name="Text 20"/>
          <p:cNvSpPr/>
          <p:nvPr/>
        </p:nvSpPr>
        <p:spPr>
          <a:xfrm>
            <a:off x="1737360" y="3822192"/>
            <a:ext cx="6035040" cy="27432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optional CANCEL SMS from trusted contact (within 20s)</a:t>
            </a:r>
            <a:endParaRPr lang="en-US" sz="950" dirty="0"/>
          </a:p>
        </p:txBody>
      </p:sp>
      <p:sp>
        <p:nvSpPr>
          <p:cNvPr id="23" name="Shape 21"/>
          <p:cNvSpPr/>
          <p:nvPr/>
        </p:nvSpPr>
        <p:spPr>
          <a:xfrm>
            <a:off x="1737360" y="4754880"/>
            <a:ext cx="3017520" cy="0"/>
          </a:xfrm>
          <a:prstGeom prst="line">
            <a:avLst/>
          </a:prstGeom>
          <a:noFill/>
          <a:ln w="15875">
            <a:solidFill>
              <a:srgbClr val="E8593C"/>
            </a:solidFill>
            <a:prstDash val="solid"/>
            <a:tailEnd type="triangle"/>
          </a:ln>
        </p:spPr>
      </p:sp>
      <p:sp>
        <p:nvSpPr>
          <p:cNvPr id="24" name="Text 22"/>
          <p:cNvSpPr/>
          <p:nvPr/>
        </p:nvSpPr>
        <p:spPr>
          <a:xfrm>
            <a:off x="1737360" y="4462272"/>
            <a:ext cx="3017520" cy="27432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no cancel received — escalate</a:t>
            </a:r>
            <a:endParaRPr lang="en-US" sz="950" dirty="0"/>
          </a:p>
        </p:txBody>
      </p:sp>
      <p:sp>
        <p:nvSpPr>
          <p:cNvPr id="25" name="Shape 23"/>
          <p:cNvSpPr/>
          <p:nvPr/>
        </p:nvSpPr>
        <p:spPr>
          <a:xfrm>
            <a:off x="4754880" y="5303520"/>
            <a:ext cx="5669280" cy="0"/>
          </a:xfrm>
          <a:prstGeom prst="line">
            <a:avLst/>
          </a:prstGeom>
          <a:noFill/>
          <a:ln w="15875">
            <a:solidFill>
              <a:srgbClr val="E8593C"/>
            </a:solidFill>
            <a:prstDash val="solid"/>
            <a:tailEnd type="triangle"/>
          </a:ln>
        </p:spPr>
      </p:sp>
      <p:sp>
        <p:nvSpPr>
          <p:cNvPr id="26" name="Text 24"/>
          <p:cNvSpPr/>
          <p:nvPr/>
        </p:nvSpPr>
        <p:spPr>
          <a:xfrm>
            <a:off x="4754880" y="5010912"/>
            <a:ext cx="5669280" cy="27432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auto voice call (AT+ATD)</a:t>
            </a:r>
            <a:endParaRPr lang="en-US" sz="950" dirty="0"/>
          </a:p>
        </p:txBody>
      </p:sp>
      <p:sp>
        <p:nvSpPr>
          <p:cNvPr id="27" name="Shape 25"/>
          <p:cNvSpPr/>
          <p:nvPr/>
        </p:nvSpPr>
        <p:spPr>
          <a:xfrm>
            <a:off x="548640" y="5943600"/>
            <a:ext cx="2103120" cy="502920"/>
          </a:xfrm>
          <a:prstGeom prst="roundRect">
            <a:avLst>
              <a:gd name="adj" fmla="val 14545"/>
            </a:avLst>
          </a:prstGeom>
          <a:solidFill>
            <a:srgbClr val="2A3D63"/>
          </a:solidFill>
          <a:ln/>
        </p:spPr>
      </p:sp>
      <p:sp>
        <p:nvSpPr>
          <p:cNvPr id="28" name="Text 26"/>
          <p:cNvSpPr/>
          <p:nvPr/>
        </p:nvSpPr>
        <p:spPr>
          <a:xfrm>
            <a:off x="548640" y="5943600"/>
            <a:ext cx="2103120" cy="5029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Note</a:t>
            </a:r>
            <a:endParaRPr lang="en-US" sz="1050" dirty="0"/>
          </a:p>
        </p:txBody>
      </p:sp>
      <p:sp>
        <p:nvSpPr>
          <p:cNvPr id="29" name="Text 27"/>
          <p:cNvSpPr/>
          <p:nvPr/>
        </p:nvSpPr>
        <p:spPr>
          <a:xfrm>
            <a:off x="2834640" y="5897880"/>
            <a:ext cx="8778240" cy="594360"/>
          </a:xfrm>
          <a:prstGeom prst="rect">
            <a:avLst/>
          </a:prstGeom>
          <a:noFill/>
          <a:ln/>
        </p:spPr>
        <p:txBody>
          <a:bodyPr wrap="square" rtlCol="0" anchor="ctr"/>
          <a:lstStyle/>
          <a:p>
            <a:pPr indent="0" marL="0">
              <a:buNone/>
            </a:pPr>
            <a:r>
              <a:rPr lang="en-US" sz="1000" i="1" dirty="0">
                <a:solidFill>
                  <a:srgbClr val="E9EDF5"/>
                </a:solidFill>
                <a:latin typeface="Calibri" pitchFamily="34" charset="0"/>
                <a:ea typeface="Calibri" pitchFamily="34" charset="-122"/>
                <a:cs typeface="Calibri" pitchFamily="34" charset="-120"/>
              </a:rPr>
              <a:t>Siren sounds locally the moment the trigger fires — not shown on this lifeline since it doesn't leave the device.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Early concept renders</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Two industrial design directions under consideration</a:t>
            </a:r>
            <a:endParaRPr lang="en-US" sz="1250" dirty="0"/>
          </a:p>
        </p:txBody>
      </p:sp>
      <p:pic>
        <p:nvPicPr>
          <p:cNvPr id="4" name="Image 0" descr="/mnt/user-data/uploads/WhatsApp_Image_2026-07-23_at_8_52_49_PM.jpeg">    </p:cNvPr>
          <p:cNvPicPr>
            <a:picLocks noChangeAspect="1"/>
          </p:cNvPicPr>
          <p:nvPr/>
        </p:nvPicPr>
        <p:blipFill>
          <a:blip r:embed="rId1"/>
          <a:stretch>
            <a:fillRect/>
          </a:stretch>
        </p:blipFill>
        <p:spPr>
          <a:xfrm>
            <a:off x="548640" y="1600200"/>
            <a:ext cx="4114800" cy="4114800"/>
          </a:xfrm>
          <a:prstGeom prst="rect">
            <a:avLst/>
          </a:prstGeom>
        </p:spPr>
      </p:pic>
      <p:sp>
        <p:nvSpPr>
          <p:cNvPr id="5" name="Text 2"/>
          <p:cNvSpPr/>
          <p:nvPr/>
        </p:nvSpPr>
        <p:spPr>
          <a:xfrm>
            <a:off x="548640" y="5806440"/>
            <a:ext cx="4114800" cy="365760"/>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Minimal cuff — rose gold, hidden components</a:t>
            </a:r>
            <a:endParaRPr lang="en-US" sz="1200" dirty="0"/>
          </a:p>
        </p:txBody>
      </p:sp>
      <p:pic>
        <p:nvPicPr>
          <p:cNvPr id="6" name="Image 1" descr="/mnt/user-data/uploads/WhatsApp_Image_2026-07-23_at_9_12_41_PM.jpeg">    </p:cNvPr>
          <p:cNvPicPr>
            <a:picLocks noChangeAspect="1"/>
          </p:cNvPicPr>
          <p:nvPr/>
        </p:nvPicPr>
        <p:blipFill>
          <a:blip r:embed="rId2"/>
          <a:stretch>
            <a:fillRect/>
          </a:stretch>
        </p:blipFill>
        <p:spPr>
          <a:xfrm>
            <a:off x="5349240" y="2145011"/>
            <a:ext cx="6035040" cy="3390938"/>
          </a:xfrm>
          <a:prstGeom prst="rect">
            <a:avLst/>
          </a:prstGeom>
        </p:spPr>
      </p:pic>
      <p:sp>
        <p:nvSpPr>
          <p:cNvPr id="7" name="Text 3"/>
          <p:cNvSpPr/>
          <p:nvPr/>
        </p:nvSpPr>
        <p:spPr>
          <a:xfrm>
            <a:off x="5349240" y="5806440"/>
            <a:ext cx="6035040" cy="365760"/>
          </a:xfrm>
          <a:prstGeom prst="rect">
            <a:avLst/>
          </a:prstGeom>
          <a:noFill/>
          <a:ln/>
        </p:spPr>
        <p:txBody>
          <a:bodyPr wrap="square"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Mesh strap — status display, swappable accent rings (children's variant)</a:t>
            </a:r>
            <a:endParaRPr lang="en-US" sz="1200" dirty="0"/>
          </a:p>
        </p:txBody>
      </p:sp>
      <p:sp>
        <p:nvSpPr>
          <p:cNvPr id="8" name="Text 4"/>
          <p:cNvSpPr/>
          <p:nvPr/>
        </p:nvSpPr>
        <p:spPr>
          <a:xfrm>
            <a:off x="548640" y="6263640"/>
            <a:ext cx="10881360" cy="320040"/>
          </a:xfrm>
          <a:prstGeom prst="rect">
            <a:avLst/>
          </a:prstGeom>
          <a:noFill/>
          <a:ln/>
        </p:spPr>
        <p:txBody>
          <a:bodyPr wrap="square" rtlCol="0" anchor="ctr"/>
          <a:lstStyle/>
          <a:p>
            <a:pPr algn="ctr" indent="0" marL="0">
              <a:buNone/>
            </a:pPr>
            <a:r>
              <a:rPr lang="en-US" sz="1000" i="1" dirty="0">
                <a:solidFill>
                  <a:srgbClr val="5C6B85"/>
                </a:solidFill>
                <a:latin typeface="Calibri" pitchFamily="34" charset="0"/>
                <a:ea typeface="Calibri" pitchFamily="34" charset="-122"/>
                <a:cs typeface="Calibri" pitchFamily="34" charset="-120"/>
              </a:rPr>
              <a:t>Renders are early industrial-design exploration, not final manufacturing output.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Blueprint sketch — adult version</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Early concept sketch, not a finalized engineering drawing</a:t>
            </a:r>
            <a:endParaRPr lang="en-US" sz="1250" dirty="0"/>
          </a:p>
        </p:txBody>
      </p:sp>
      <p:pic>
        <p:nvPicPr>
          <p:cNvPr id="4" name="Image 0" descr="/mnt/user-data/uploads/WhatsApp_Image_2026-07-23_at_8_52_50_PM.jpeg">    </p:cNvPr>
          <p:cNvPicPr>
            <a:picLocks noChangeAspect="1"/>
          </p:cNvPicPr>
          <p:nvPr/>
        </p:nvPicPr>
        <p:blipFill>
          <a:blip r:embed="rId1"/>
          <a:stretch>
            <a:fillRect/>
          </a:stretch>
        </p:blipFill>
        <p:spPr>
          <a:xfrm>
            <a:off x="2249424" y="1554480"/>
            <a:ext cx="7699248" cy="4297680"/>
          </a:xfrm>
          <a:prstGeom prst="rect">
            <a:avLst/>
          </a:prstGeom>
        </p:spPr>
      </p:pic>
      <p:sp>
        <p:nvSpPr>
          <p:cNvPr id="5" name="Shape 2"/>
          <p:cNvSpPr/>
          <p:nvPr/>
        </p:nvSpPr>
        <p:spPr>
          <a:xfrm>
            <a:off x="548640" y="5989320"/>
            <a:ext cx="10881360" cy="640080"/>
          </a:xfrm>
          <a:prstGeom prst="roundRect">
            <a:avLst>
              <a:gd name="adj" fmla="val 11429"/>
            </a:avLst>
          </a:prstGeom>
          <a:solidFill>
            <a:srgbClr val="E9EDF5"/>
          </a:solidFill>
          <a:ln/>
        </p:spPr>
      </p:sp>
      <p:sp>
        <p:nvSpPr>
          <p:cNvPr id="6" name="Text 3"/>
          <p:cNvSpPr/>
          <p:nvPr/>
        </p:nvSpPr>
        <p:spPr>
          <a:xfrm>
            <a:off x="777240" y="5989320"/>
            <a:ext cx="10424160" cy="640080"/>
          </a:xfrm>
          <a:prstGeom prst="rect">
            <a:avLst/>
          </a:prstGeom>
          <a:noFill/>
          <a:ln/>
        </p:spPr>
        <p:txBody>
          <a:bodyPr wrap="square" rtlCol="0" anchor="ctr"/>
          <a:lstStyle/>
          <a:p>
            <a:pPr indent="0" marL="0">
              <a:buNone/>
            </a:pPr>
            <a:r>
              <a:rPr lang="en-US" sz="1050" i="1" dirty="0">
                <a:solidFill>
                  <a:srgbClr val="5C6B85"/>
                </a:solidFill>
                <a:latin typeface="Calibri" pitchFamily="34" charset="0"/>
                <a:ea typeface="Calibri" pitchFamily="34" charset="-122"/>
                <a:cs typeface="Calibri" pitchFamily="34" charset="-120"/>
              </a:rPr>
              <a:t>Some labels in this sketch are AI-generated placeholder text (e.g. the material notes) and don't reflect real spec values — useful for visual direction, not for fabrication.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Blueprint sketch — children's version</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Component layout, exploded view, and bill of materials</a:t>
            </a:r>
            <a:endParaRPr lang="en-US" sz="1250" dirty="0"/>
          </a:p>
        </p:txBody>
      </p:sp>
      <p:pic>
        <p:nvPicPr>
          <p:cNvPr id="4" name="Image 0" descr="/mnt/user-data/uploads/WhatsApp_Image_2026-07-23_at_9_04_47_PM.jpeg">    </p:cNvPr>
          <p:cNvPicPr>
            <a:picLocks noChangeAspect="1"/>
          </p:cNvPicPr>
          <p:nvPr/>
        </p:nvPicPr>
        <p:blipFill>
          <a:blip r:embed="rId1"/>
          <a:stretch>
            <a:fillRect/>
          </a:stretch>
        </p:blipFill>
        <p:spPr>
          <a:xfrm>
            <a:off x="1508760" y="1508760"/>
            <a:ext cx="9171432" cy="5120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Industrial design — sleek and thin</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Everything consolidated onto a single flex-PCB, battery stacked beneath rather than beside it</a:t>
            </a:r>
            <a:endParaRPr lang="en-US" sz="1250" dirty="0"/>
          </a:p>
        </p:txBody>
      </p:sp>
      <p:pic>
        <p:nvPicPr>
          <p:cNvPr id="4" name="Image 0" descr="/home/claude/profile.png">    </p:cNvPr>
          <p:cNvPicPr>
            <a:picLocks noChangeAspect="1"/>
          </p:cNvPicPr>
          <p:nvPr/>
        </p:nvPicPr>
        <p:blipFill>
          <a:blip r:embed="rId1"/>
          <a:stretch>
            <a:fillRect/>
          </a:stretch>
        </p:blipFill>
        <p:spPr>
          <a:xfrm>
            <a:off x="1051560" y="1600200"/>
            <a:ext cx="10058400" cy="48371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Updated component blueprint</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Top-down layout — all six modules on one board, no stacked daughterboards</a:t>
            </a:r>
            <a:endParaRPr lang="en-US" sz="1250" dirty="0"/>
          </a:p>
        </p:txBody>
      </p:sp>
      <p:pic>
        <p:nvPicPr>
          <p:cNvPr id="4" name="Image 0" descr="/home/claude/layout.png">    </p:cNvPr>
          <p:cNvPicPr>
            <a:picLocks noChangeAspect="1"/>
          </p:cNvPicPr>
          <p:nvPr/>
        </p:nvPicPr>
        <p:blipFill>
          <a:blip r:embed="rId1"/>
          <a:stretch>
            <a:fillRect/>
          </a:stretch>
        </p:blipFill>
        <p:spPr>
          <a:xfrm>
            <a:off x="1234440" y="1737360"/>
            <a:ext cx="9692640" cy="4069080"/>
          </a:xfrm>
          <a:prstGeom prst="rect">
            <a:avLst/>
          </a:prstGeom>
        </p:spPr>
      </p:pic>
      <p:sp>
        <p:nvSpPr>
          <p:cNvPr id="5" name="Text 2"/>
          <p:cNvSpPr/>
          <p:nvPr/>
        </p:nvSpPr>
        <p:spPr>
          <a:xfrm>
            <a:off x="548640" y="5989320"/>
            <a:ext cx="11064240" cy="365760"/>
          </a:xfrm>
          <a:prstGeom prst="rect">
            <a:avLst/>
          </a:prstGeom>
          <a:noFill/>
          <a:ln/>
        </p:spPr>
        <p:txBody>
          <a:bodyPr wrap="square" rtlCol="0" anchor="ctr"/>
          <a:lstStyle/>
          <a:p>
            <a:pPr algn="ctr" indent="0" marL="0">
              <a:buNone/>
            </a:pPr>
            <a:r>
              <a:rPr lang="en-US" sz="1150" i="1" dirty="0">
                <a:solidFill>
                  <a:srgbClr val="5C6B85"/>
                </a:solidFill>
                <a:latin typeface="Calibri" pitchFamily="34" charset="0"/>
                <a:ea typeface="Calibri" pitchFamily="34" charset="-122"/>
                <a:cs typeface="Calibri" pitchFamily="34" charset="-120"/>
              </a:rPr>
              <a:t>7.2mm total thickness — comparable to a fitness tracker, not a hobbyist enclosure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Prototype bill of materials</a:t>
            </a:r>
            <a:endParaRPr lang="en-US" sz="2600" dirty="0"/>
          </a:p>
        </p:txBody>
      </p:sp>
      <p:sp>
        <p:nvSpPr>
          <p:cNvPr id="3" name="Text 1"/>
          <p:cNvSpPr/>
          <p:nvPr/>
        </p:nvSpPr>
        <p:spPr>
          <a:xfrm>
            <a:off x="548640" y="987552"/>
            <a:ext cx="11064240" cy="365760"/>
          </a:xfrm>
          <a:prstGeom prst="rect">
            <a:avLst/>
          </a:prstGeom>
          <a:noFill/>
          <a:ln/>
        </p:spPr>
        <p:txBody>
          <a:bodyPr wrap="square" rtlCol="0" anchor="ctr"/>
          <a:lstStyle/>
          <a:p>
            <a:pPr indent="0" marL="0">
              <a:buNone/>
            </a:pPr>
            <a:r>
              <a:rPr lang="en-US" sz="1250" i="1" dirty="0">
                <a:solidFill>
                  <a:srgbClr val="5C6B85"/>
                </a:solidFill>
                <a:latin typeface="Calibri" pitchFamily="34" charset="0"/>
                <a:ea typeface="Calibri" pitchFamily="34" charset="-122"/>
                <a:cs typeface="Calibri" pitchFamily="34" charset="-120"/>
              </a:rPr>
              <a:t>Per-unit cost drops further at manufacturing scale</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4206240"/>
        </p:xfrm>
        <a:graphic>
          <a:graphicData uri="http://schemas.openxmlformats.org/drawingml/2006/table">
            <a:tbl>
              <a:tblPr/>
              <a:tblGrid>
                <a:gridCol w="2468880"/>
                <a:gridCol w="2834640"/>
                <a:gridCol w="1645920"/>
              </a:tblGrid>
              <a:tr h="4673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Component</a:t>
                      </a:r>
                      <a:endParaRPr lang="en-US" sz="12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Approx. cost</a:t>
                      </a:r>
                      <a:endParaRPr lang="en-US" sz="125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1B2A4A"/>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XIAO ESP32-S3 Sense</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MCU + mic + on-device AI</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₹1,400–1,800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NEO-6M GPS</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Location tracking</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₹300–450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SIM800L GSM</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SMS + voice call</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₹350–500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MPU6050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Motion detection</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MAX30102</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Heart-rate confirmation</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₹150–250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Buzzer + tamper loop</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Siren + tamper trigger</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₹60–100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Slim battery + TP4056</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250mAh, USB-C charging</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₹150–250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FFFFFF"/>
                    </a:solidFill>
                  </a:tcPr>
                </a:tc>
              </a:tr>
              <a:tr h="467360">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Flex-PCB + enclosure</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l" indent="0" marL="0">
                        <a:buNone/>
                      </a:pPr>
                      <a:r>
                        <a:rPr lang="en-US" sz="1200" dirty="0">
                          <a:solidFill>
                            <a:srgbClr val="1B2A4A"/>
                          </a:solidFill>
                          <a:latin typeface="Calibri" pitchFamily="34" charset="0"/>
                          <a:ea typeface="Calibri" pitchFamily="34" charset="-122"/>
                          <a:cs typeface="Calibri" pitchFamily="34" charset="-120"/>
                        </a:rPr>
                        <a:t>7.2mm slim housing</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c>
                  <a:txBody>
                    <a:bodyPr/>
                    <a:lstStyle/>
                    <a:p>
                      <a:pPr algn="r" indent="0" marL="0">
                        <a:buNone/>
                      </a:pPr>
                      <a:r>
                        <a:rPr lang="en-US" sz="1200" dirty="0">
                          <a:solidFill>
                            <a:srgbClr val="1B2A4A"/>
                          </a:solidFill>
                          <a:latin typeface="Calibri" pitchFamily="34" charset="0"/>
                          <a:ea typeface="Calibri" pitchFamily="34" charset="-122"/>
                          <a:cs typeface="Calibri" pitchFamily="34" charset="-120"/>
                        </a:rPr>
                        <a:t>₹200–350</a:t>
                      </a:r>
                      <a:endParaRPr lang="en-US" sz="1200" dirty="0">
                        <a:latin typeface="Calibri" charset="0"/>
                        <a:ea typeface="Calibri" charset="0"/>
                        <a:cs typeface="Calibri" charset="0"/>
                      </a:endParaRPr>
                    </a:p>
                  </a:txBody>
                  <a:tcPr marL="91440" marR="91440" marT="45720" marB="45720" anchor="ctr">
                    <a:lnL w="9525" cap="flat" cmpd="sng" algn="ctr">
                      <a:solidFill>
                        <a:srgbClr val="E9EDF5"/>
                      </a:solidFill>
                      <a:prstDash val="solid"/>
                      <a:round/>
                      <a:headEnd type="none" w="med" len="med"/>
                      <a:tailEnd type="none" w="med" len="med"/>
                    </a:lnL>
                    <a:lnR w="9525" cap="flat" cmpd="sng" algn="ctr">
                      <a:solidFill>
                        <a:srgbClr val="E9EDF5"/>
                      </a:solidFill>
                      <a:prstDash val="solid"/>
                      <a:round/>
                      <a:headEnd type="none" w="med" len="med"/>
                      <a:tailEnd type="none" w="med" len="med"/>
                    </a:lnR>
                    <a:lnT w="9525" cap="flat" cmpd="sng" algn="ctr">
                      <a:solidFill>
                        <a:srgbClr val="E9EDF5"/>
                      </a:solidFill>
                      <a:prstDash val="solid"/>
                      <a:round/>
                      <a:headEnd type="none" w="med" len="med"/>
                      <a:tailEnd type="none" w="med" len="med"/>
                    </a:lnT>
                    <a:lnB w="9525" cap="flat" cmpd="sng" algn="ctr">
                      <a:solidFill>
                        <a:srgbClr val="E9EDF5"/>
                      </a:solidFill>
                      <a:prstDash val="solid"/>
                      <a:round/>
                      <a:headEnd type="none" w="med" len="med"/>
                      <a:tailEnd type="none" w="med" len="med"/>
                    </a:lnB>
                    <a:solidFill>
                      <a:srgbClr val="E9EDF5"/>
                    </a:solidFill>
                  </a:tcPr>
                </a:tc>
              </a:tr>
            </a:tbl>
          </a:graphicData>
        </a:graphic>
      </p:graphicFrame>
      <p:sp>
        <p:nvSpPr>
          <p:cNvPr id="5" name="Shape 2"/>
          <p:cNvSpPr/>
          <p:nvPr/>
        </p:nvSpPr>
        <p:spPr>
          <a:xfrm>
            <a:off x="7955280" y="1691640"/>
            <a:ext cx="3566160" cy="1920240"/>
          </a:xfrm>
          <a:prstGeom prst="roundRect">
            <a:avLst>
              <a:gd name="adj" fmla="val 5714"/>
            </a:avLst>
          </a:prstGeom>
          <a:solidFill>
            <a:srgbClr val="1B2A4A"/>
          </a:solidFill>
          <a:ln/>
        </p:spPr>
      </p:sp>
      <p:sp>
        <p:nvSpPr>
          <p:cNvPr id="6" name="Text 3"/>
          <p:cNvSpPr/>
          <p:nvPr/>
        </p:nvSpPr>
        <p:spPr>
          <a:xfrm>
            <a:off x="7955280" y="1920240"/>
            <a:ext cx="3566160" cy="320040"/>
          </a:xfrm>
          <a:prstGeom prst="rect">
            <a:avLst/>
          </a:prstGeom>
          <a:noFill/>
          <a:ln/>
        </p:spPr>
        <p:txBody>
          <a:bodyPr wrap="square" rtlCol="0" anchor="ctr"/>
          <a:lstStyle/>
          <a:p>
            <a:pPr algn="ctr" indent="0" marL="0">
              <a:buNone/>
            </a:pPr>
            <a:r>
              <a:rPr lang="en-US" sz="1100" b="1" spc="100" kern="0" dirty="0">
                <a:solidFill>
                  <a:srgbClr val="E9EDF5"/>
                </a:solidFill>
                <a:latin typeface="Calibri" pitchFamily="34" charset="0"/>
                <a:ea typeface="Calibri" pitchFamily="34" charset="-122"/>
                <a:cs typeface="Calibri" pitchFamily="34" charset="-120"/>
              </a:rPr>
              <a:t>TOTAL PER UNIT</a:t>
            </a:r>
            <a:endParaRPr lang="en-US" sz="1100" dirty="0"/>
          </a:p>
        </p:txBody>
      </p:sp>
      <p:sp>
        <p:nvSpPr>
          <p:cNvPr id="7" name="Text 4"/>
          <p:cNvSpPr/>
          <p:nvPr/>
        </p:nvSpPr>
        <p:spPr>
          <a:xfrm>
            <a:off x="7955280" y="2240280"/>
            <a:ext cx="3566160" cy="77724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₹2,720–3,810</a:t>
            </a:r>
            <a:endParaRPr lang="en-US" sz="3200" dirty="0"/>
          </a:p>
        </p:txBody>
      </p:sp>
      <p:sp>
        <p:nvSpPr>
          <p:cNvPr id="8" name="Text 5"/>
          <p:cNvSpPr/>
          <p:nvPr/>
        </p:nvSpPr>
        <p:spPr>
          <a:xfrm>
            <a:off x="7955280" y="3063240"/>
            <a:ext cx="3566160" cy="365760"/>
          </a:xfrm>
          <a:prstGeom prst="rect">
            <a:avLst/>
          </a:prstGeom>
          <a:noFill/>
          <a:ln/>
        </p:spPr>
        <p:txBody>
          <a:bodyPr wrap="square" rtlCol="0" anchor="ctr"/>
          <a:lstStyle/>
          <a:p>
            <a:pPr algn="ctr" indent="0" marL="0">
              <a:buNone/>
            </a:pPr>
            <a:r>
              <a:rPr lang="en-US" sz="1200" dirty="0">
                <a:solidFill>
                  <a:srgbClr val="E8593C"/>
                </a:solidFill>
                <a:latin typeface="Calibri" pitchFamily="34" charset="0"/>
                <a:ea typeface="Calibri" pitchFamily="34" charset="-122"/>
                <a:cs typeface="Calibri" pitchFamily="34" charset="-120"/>
              </a:rPr>
              <a:t>~$32–$45 USD</a:t>
            </a:r>
            <a:endParaRPr lang="en-US" sz="1200" dirty="0"/>
          </a:p>
        </p:txBody>
      </p:sp>
      <p:sp>
        <p:nvSpPr>
          <p:cNvPr id="9" name="Shape 6"/>
          <p:cNvSpPr/>
          <p:nvPr/>
        </p:nvSpPr>
        <p:spPr>
          <a:xfrm>
            <a:off x="7955280" y="3886200"/>
            <a:ext cx="3566160" cy="2011680"/>
          </a:xfrm>
          <a:prstGeom prst="roundRect">
            <a:avLst>
              <a:gd name="adj" fmla="val 5455"/>
            </a:avLst>
          </a:prstGeom>
          <a:solidFill>
            <a:srgbClr val="E9EDF5"/>
          </a:solidFill>
          <a:ln/>
        </p:spPr>
      </p:sp>
      <p:sp>
        <p:nvSpPr>
          <p:cNvPr id="10" name="Text 7"/>
          <p:cNvSpPr/>
          <p:nvPr/>
        </p:nvSpPr>
        <p:spPr>
          <a:xfrm>
            <a:off x="8183880" y="4069080"/>
            <a:ext cx="3108960" cy="1691640"/>
          </a:xfrm>
          <a:prstGeom prst="rect">
            <a:avLst/>
          </a:prstGeom>
          <a:noFill/>
          <a:ln/>
        </p:spPr>
        <p:txBody>
          <a:bodyPr wrap="square" rtlCol="0" anchor="t"/>
          <a:lstStyle/>
          <a:p>
            <a:pPr indent="0" marL="0">
              <a:lnSpc>
                <a:spcPct val="130000"/>
              </a:lnSpc>
              <a:buNone/>
            </a:pPr>
            <a:r>
              <a:rPr lang="en-US" sz="1100" dirty="0">
                <a:solidFill>
                  <a:srgbClr val="5C6B85"/>
                </a:solidFill>
                <a:latin typeface="Calibri" pitchFamily="34" charset="0"/>
                <a:ea typeface="Calibri" pitchFamily="34" charset="-122"/>
                <a:cs typeface="Calibri" pitchFamily="34" charset="-120"/>
              </a:rPr>
              <a:t>The AI-capable MCU, biometric sensing, and flex-PCB construction cost more than a bare microcontroller build — but they're what make real detection intelligence and a wearable form factor possible.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this deserves attention now</a:t>
            </a:r>
            <a:endParaRPr lang="en-US" sz="2600" dirty="0"/>
          </a:p>
        </p:txBody>
      </p:sp>
      <p:sp>
        <p:nvSpPr>
          <p:cNvPr id="3" name="Shape 1"/>
          <p:cNvSpPr/>
          <p:nvPr/>
        </p:nvSpPr>
        <p:spPr>
          <a:xfrm>
            <a:off x="548640" y="1508760"/>
            <a:ext cx="5349240" cy="2148840"/>
          </a:xfrm>
          <a:prstGeom prst="roundRect">
            <a:avLst>
              <a:gd name="adj" fmla="val 5106"/>
            </a:avLst>
          </a:prstGeom>
          <a:solidFill>
            <a:srgbClr val="2A3D63"/>
          </a:solidFill>
          <a:ln/>
        </p:spPr>
      </p:sp>
      <p:sp>
        <p:nvSpPr>
          <p:cNvPr id="4" name="Shape 2"/>
          <p:cNvSpPr/>
          <p:nvPr/>
        </p:nvSpPr>
        <p:spPr>
          <a:xfrm>
            <a:off x="868680" y="1828800"/>
            <a:ext cx="594360" cy="594360"/>
          </a:xfrm>
          <a:prstGeom prst="ellipse">
            <a:avLst/>
          </a:prstGeom>
          <a:solidFill>
            <a:srgbClr val="E8593C"/>
          </a:solidFill>
          <a:ln/>
        </p:spPr>
      </p:sp>
      <p:sp>
        <p:nvSpPr>
          <p:cNvPr id="5" name="Text 3"/>
          <p:cNvSpPr/>
          <p:nvPr/>
        </p:nvSpPr>
        <p:spPr>
          <a:xfrm>
            <a:off x="868680" y="182880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645920" y="1783080"/>
            <a:ext cx="3977640" cy="45720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Scale of need</a:t>
            </a:r>
            <a:endParaRPr lang="en-US" sz="1650" dirty="0"/>
          </a:p>
        </p:txBody>
      </p:sp>
      <p:sp>
        <p:nvSpPr>
          <p:cNvPr id="7" name="Text 5"/>
          <p:cNvSpPr/>
          <p:nvPr/>
        </p:nvSpPr>
        <p:spPr>
          <a:xfrm>
            <a:off x="1645920" y="2286000"/>
            <a:ext cx="3977640" cy="1280160"/>
          </a:xfrm>
          <a:prstGeom prst="rect">
            <a:avLst/>
          </a:prstGeom>
          <a:noFill/>
          <a:ln/>
        </p:spPr>
        <p:txBody>
          <a:bodyPr wrap="square" rtlCol="0" anchor="t"/>
          <a:lstStyle/>
          <a:p>
            <a:pPr indent="0" marL="0">
              <a:lnSpc>
                <a:spcPct val="130000"/>
              </a:lnSpc>
              <a:buNone/>
            </a:pPr>
            <a:r>
              <a:rPr lang="en-US" sz="1200" dirty="0">
                <a:solidFill>
                  <a:srgbClr val="E9EDF5"/>
                </a:solidFill>
                <a:latin typeface="Calibri" pitchFamily="34" charset="0"/>
                <a:ea typeface="Calibri" pitchFamily="34" charset="-122"/>
                <a:cs typeface="Calibri" pitchFamily="34" charset="-120"/>
              </a:rPr>
              <a:t>448,000+ reported cases a year in India alone means even a modest adoption rate reaches hundreds of thousands of people directly.</a:t>
            </a:r>
            <a:endParaRPr lang="en-US" sz="1200" dirty="0"/>
          </a:p>
        </p:txBody>
      </p:sp>
      <p:sp>
        <p:nvSpPr>
          <p:cNvPr id="8" name="Shape 6"/>
          <p:cNvSpPr/>
          <p:nvPr/>
        </p:nvSpPr>
        <p:spPr>
          <a:xfrm>
            <a:off x="6263640" y="1508760"/>
            <a:ext cx="5349240" cy="2148840"/>
          </a:xfrm>
          <a:prstGeom prst="roundRect">
            <a:avLst>
              <a:gd name="adj" fmla="val 5106"/>
            </a:avLst>
          </a:prstGeom>
          <a:solidFill>
            <a:srgbClr val="2A3D63"/>
          </a:solidFill>
          <a:ln/>
        </p:spPr>
      </p:sp>
      <p:sp>
        <p:nvSpPr>
          <p:cNvPr id="9" name="Shape 7"/>
          <p:cNvSpPr/>
          <p:nvPr/>
        </p:nvSpPr>
        <p:spPr>
          <a:xfrm>
            <a:off x="6583680" y="1828800"/>
            <a:ext cx="594360" cy="594360"/>
          </a:xfrm>
          <a:prstGeom prst="ellipse">
            <a:avLst/>
          </a:prstGeom>
          <a:solidFill>
            <a:srgbClr val="E8593C"/>
          </a:solidFill>
          <a:ln/>
        </p:spPr>
      </p:sp>
      <p:sp>
        <p:nvSpPr>
          <p:cNvPr id="10" name="Text 8"/>
          <p:cNvSpPr/>
          <p:nvPr/>
        </p:nvSpPr>
        <p:spPr>
          <a:xfrm>
            <a:off x="6583680" y="182880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7360920" y="1783080"/>
            <a:ext cx="3977640" cy="45720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Institutional distribution</a:t>
            </a:r>
            <a:endParaRPr lang="en-US" sz="1650" dirty="0"/>
          </a:p>
        </p:txBody>
      </p:sp>
      <p:sp>
        <p:nvSpPr>
          <p:cNvPr id="12" name="Text 10"/>
          <p:cNvSpPr/>
          <p:nvPr/>
        </p:nvSpPr>
        <p:spPr>
          <a:xfrm>
            <a:off x="7360920" y="2286000"/>
            <a:ext cx="3977640" cy="1280160"/>
          </a:xfrm>
          <a:prstGeom prst="rect">
            <a:avLst/>
          </a:prstGeom>
          <a:noFill/>
          <a:ln/>
        </p:spPr>
        <p:txBody>
          <a:bodyPr wrap="square" rtlCol="0" anchor="t"/>
          <a:lstStyle/>
          <a:p>
            <a:pPr indent="0" marL="0">
              <a:lnSpc>
                <a:spcPct val="130000"/>
              </a:lnSpc>
              <a:buNone/>
            </a:pPr>
            <a:r>
              <a:rPr lang="en-US" sz="1200" dirty="0">
                <a:solidFill>
                  <a:srgbClr val="E9EDF5"/>
                </a:solidFill>
                <a:latin typeface="Calibri" pitchFamily="34" charset="0"/>
                <a:ea typeface="Calibri" pitchFamily="34" charset="-122"/>
                <a:cs typeface="Calibri" pitchFamily="34" charset="-120"/>
              </a:rPr>
              <a:t>Schools, colleges, hostels, corporate night-shift programs, and state women's safety initiatives are natural bulk-adoption channels — not just individual retail.</a:t>
            </a:r>
            <a:endParaRPr lang="en-US" sz="1200" dirty="0"/>
          </a:p>
        </p:txBody>
      </p:sp>
      <p:sp>
        <p:nvSpPr>
          <p:cNvPr id="13" name="Shape 11"/>
          <p:cNvSpPr/>
          <p:nvPr/>
        </p:nvSpPr>
        <p:spPr>
          <a:xfrm>
            <a:off x="548640" y="3977640"/>
            <a:ext cx="5349240" cy="2148840"/>
          </a:xfrm>
          <a:prstGeom prst="roundRect">
            <a:avLst>
              <a:gd name="adj" fmla="val 5106"/>
            </a:avLst>
          </a:prstGeom>
          <a:solidFill>
            <a:srgbClr val="2A3D63"/>
          </a:solidFill>
          <a:ln/>
        </p:spPr>
      </p:sp>
      <p:sp>
        <p:nvSpPr>
          <p:cNvPr id="14" name="Shape 12"/>
          <p:cNvSpPr/>
          <p:nvPr/>
        </p:nvSpPr>
        <p:spPr>
          <a:xfrm>
            <a:off x="868680" y="4297680"/>
            <a:ext cx="594360" cy="594360"/>
          </a:xfrm>
          <a:prstGeom prst="ellipse">
            <a:avLst/>
          </a:prstGeom>
          <a:solidFill>
            <a:srgbClr val="E8593C"/>
          </a:solidFill>
          <a:ln/>
        </p:spPr>
      </p:sp>
      <p:sp>
        <p:nvSpPr>
          <p:cNvPr id="15" name="Text 13"/>
          <p:cNvSpPr/>
          <p:nvPr/>
        </p:nvSpPr>
        <p:spPr>
          <a:xfrm>
            <a:off x="868680" y="429768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645920" y="4251960"/>
            <a:ext cx="3977640" cy="45720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Low cost, high reach</a:t>
            </a:r>
            <a:endParaRPr lang="en-US" sz="1650" dirty="0"/>
          </a:p>
        </p:txBody>
      </p:sp>
      <p:sp>
        <p:nvSpPr>
          <p:cNvPr id="17" name="Text 15"/>
          <p:cNvSpPr/>
          <p:nvPr/>
        </p:nvSpPr>
        <p:spPr>
          <a:xfrm>
            <a:off x="1645920" y="4754880"/>
            <a:ext cx="3977640" cy="1280160"/>
          </a:xfrm>
          <a:prstGeom prst="rect">
            <a:avLst/>
          </a:prstGeom>
          <a:noFill/>
          <a:ln/>
        </p:spPr>
        <p:txBody>
          <a:bodyPr wrap="square" rtlCol="0" anchor="t"/>
          <a:lstStyle/>
          <a:p>
            <a:pPr indent="0" marL="0">
              <a:lnSpc>
                <a:spcPct val="130000"/>
              </a:lnSpc>
              <a:buNone/>
            </a:pPr>
            <a:r>
              <a:rPr lang="en-US" sz="1200" dirty="0">
                <a:solidFill>
                  <a:srgbClr val="E9EDF5"/>
                </a:solidFill>
                <a:latin typeface="Calibri" pitchFamily="34" charset="0"/>
                <a:ea typeface="Calibri" pitchFamily="34" charset="-122"/>
                <a:cs typeface="Calibri" pitchFamily="34" charset="-120"/>
              </a:rPr>
              <a:t>Under ₹4,000 per unit means state or CSR-funded distribution to students and workers is realistic, not aspirational.</a:t>
            </a:r>
            <a:endParaRPr lang="en-US" sz="1200" dirty="0"/>
          </a:p>
        </p:txBody>
      </p:sp>
      <p:sp>
        <p:nvSpPr>
          <p:cNvPr id="18" name="Shape 16"/>
          <p:cNvSpPr/>
          <p:nvPr/>
        </p:nvSpPr>
        <p:spPr>
          <a:xfrm>
            <a:off x="6263640" y="3977640"/>
            <a:ext cx="5349240" cy="2148840"/>
          </a:xfrm>
          <a:prstGeom prst="roundRect">
            <a:avLst>
              <a:gd name="adj" fmla="val 5106"/>
            </a:avLst>
          </a:prstGeom>
          <a:solidFill>
            <a:srgbClr val="2A3D63"/>
          </a:solidFill>
          <a:ln/>
        </p:spPr>
      </p:sp>
      <p:sp>
        <p:nvSpPr>
          <p:cNvPr id="19" name="Shape 17"/>
          <p:cNvSpPr/>
          <p:nvPr/>
        </p:nvSpPr>
        <p:spPr>
          <a:xfrm>
            <a:off x="6583680" y="4297680"/>
            <a:ext cx="594360" cy="594360"/>
          </a:xfrm>
          <a:prstGeom prst="ellipse">
            <a:avLst/>
          </a:prstGeom>
          <a:solidFill>
            <a:srgbClr val="E8593C"/>
          </a:solidFill>
          <a:ln/>
        </p:spPr>
      </p:sp>
      <p:sp>
        <p:nvSpPr>
          <p:cNvPr id="20" name="Text 18"/>
          <p:cNvSpPr/>
          <p:nvPr/>
        </p:nvSpPr>
        <p:spPr>
          <a:xfrm>
            <a:off x="6583680" y="4297680"/>
            <a:ext cx="594360" cy="5943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7360920" y="4251960"/>
            <a:ext cx="3977640" cy="457200"/>
          </a:xfrm>
          <a:prstGeom prst="rect">
            <a:avLst/>
          </a:prstGeom>
          <a:noFill/>
          <a:ln/>
        </p:spPr>
        <p:txBody>
          <a:bodyPr wrap="square"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A gap nobody else is closing</a:t>
            </a:r>
            <a:endParaRPr lang="en-US" sz="1650" dirty="0"/>
          </a:p>
        </p:txBody>
      </p:sp>
      <p:sp>
        <p:nvSpPr>
          <p:cNvPr id="22" name="Text 20"/>
          <p:cNvSpPr/>
          <p:nvPr/>
        </p:nvSpPr>
        <p:spPr>
          <a:xfrm>
            <a:off x="7360920" y="4754880"/>
            <a:ext cx="3977640" cy="1280160"/>
          </a:xfrm>
          <a:prstGeom prst="rect">
            <a:avLst/>
          </a:prstGeom>
          <a:noFill/>
          <a:ln/>
        </p:spPr>
        <p:txBody>
          <a:bodyPr wrap="square" rtlCol="0" anchor="t"/>
          <a:lstStyle/>
          <a:p>
            <a:pPr indent="0" marL="0">
              <a:lnSpc>
                <a:spcPct val="130000"/>
              </a:lnSpc>
              <a:buNone/>
            </a:pPr>
            <a:r>
              <a:rPr lang="en-US" sz="1200" dirty="0">
                <a:solidFill>
                  <a:srgbClr val="E9EDF5"/>
                </a:solidFill>
                <a:latin typeface="Calibri" pitchFamily="34" charset="0"/>
                <a:ea typeface="Calibri" pitchFamily="34" charset="-122"/>
                <a:cs typeface="Calibri" pitchFamily="34" charset="-120"/>
              </a:rPr>
              <a:t>Existing wearables do either location tracking or a panic button. None combine offline AI scream detection, biometric confirmation, and autonomous escalation in one device.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Roadmap</a:t>
            </a:r>
            <a:endParaRPr lang="en-US" sz="2600" dirty="0"/>
          </a:p>
        </p:txBody>
      </p:sp>
      <p:sp>
        <p:nvSpPr>
          <p:cNvPr id="3" name="Shape 1"/>
          <p:cNvSpPr/>
          <p:nvPr/>
        </p:nvSpPr>
        <p:spPr>
          <a:xfrm>
            <a:off x="548640" y="1691640"/>
            <a:ext cx="10881360" cy="777240"/>
          </a:xfrm>
          <a:prstGeom prst="roundRect">
            <a:avLst>
              <a:gd name="adj" fmla="val 9412"/>
            </a:avLst>
          </a:prstGeom>
          <a:solidFill>
            <a:srgbClr val="E9EDF5"/>
          </a:solidFill>
          <a:ln/>
        </p:spPr>
      </p:sp>
      <p:sp>
        <p:nvSpPr>
          <p:cNvPr id="4" name="Text 2"/>
          <p:cNvSpPr/>
          <p:nvPr/>
        </p:nvSpPr>
        <p:spPr>
          <a:xfrm>
            <a:off x="777240" y="1691640"/>
            <a:ext cx="1737360" cy="777240"/>
          </a:xfrm>
          <a:prstGeom prst="rect">
            <a:avLst/>
          </a:prstGeom>
          <a:noFill/>
          <a:ln/>
        </p:spPr>
        <p:txBody>
          <a:bodyPr wrap="square" rtlCol="0" anchor="ctr"/>
          <a:lstStyle/>
          <a:p>
            <a:pPr indent="0" marL="0">
              <a:buNone/>
            </a:pPr>
            <a:r>
              <a:rPr lang="en-US" sz="1300" b="1" dirty="0">
                <a:solidFill>
                  <a:srgbClr val="E8593C"/>
                </a:solidFill>
                <a:latin typeface="Calibri" pitchFamily="34" charset="0"/>
                <a:ea typeface="Calibri" pitchFamily="34" charset="-122"/>
                <a:cs typeface="Calibri" pitchFamily="34" charset="-120"/>
              </a:rPr>
              <a:t>Now</a:t>
            </a:r>
            <a:endParaRPr lang="en-US" sz="1300" dirty="0"/>
          </a:p>
        </p:txBody>
      </p:sp>
      <p:sp>
        <p:nvSpPr>
          <p:cNvPr id="5" name="Text 3"/>
          <p:cNvSpPr/>
          <p:nvPr/>
        </p:nvSpPr>
        <p:spPr>
          <a:xfrm>
            <a:off x="2606040" y="1691640"/>
            <a:ext cx="8595360" cy="77724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Architecture finalized; Edge Impulse dataset collection underway</a:t>
            </a:r>
            <a:endParaRPr lang="en-US" sz="1200" dirty="0"/>
          </a:p>
        </p:txBody>
      </p:sp>
      <p:sp>
        <p:nvSpPr>
          <p:cNvPr id="6" name="Shape 4"/>
          <p:cNvSpPr/>
          <p:nvPr/>
        </p:nvSpPr>
        <p:spPr>
          <a:xfrm>
            <a:off x="548640" y="2606040"/>
            <a:ext cx="10881360" cy="777240"/>
          </a:xfrm>
          <a:prstGeom prst="roundRect">
            <a:avLst>
              <a:gd name="adj" fmla="val 9412"/>
            </a:avLst>
          </a:prstGeom>
          <a:solidFill>
            <a:srgbClr val="E9EDF5"/>
          </a:solidFill>
          <a:ln/>
        </p:spPr>
      </p:sp>
      <p:sp>
        <p:nvSpPr>
          <p:cNvPr id="7" name="Text 5"/>
          <p:cNvSpPr/>
          <p:nvPr/>
        </p:nvSpPr>
        <p:spPr>
          <a:xfrm>
            <a:off x="777240" y="2606040"/>
            <a:ext cx="1737360" cy="777240"/>
          </a:xfrm>
          <a:prstGeom prst="rect">
            <a:avLst/>
          </a:prstGeom>
          <a:noFill/>
          <a:ln/>
        </p:spPr>
        <p:txBody>
          <a:bodyPr wrap="square" rtlCol="0" anchor="ctr"/>
          <a:lstStyle/>
          <a:p>
            <a:pPr indent="0" marL="0">
              <a:buNone/>
            </a:pPr>
            <a:r>
              <a:rPr lang="en-US" sz="1300" b="1" dirty="0">
                <a:solidFill>
                  <a:srgbClr val="E8593C"/>
                </a:solidFill>
                <a:latin typeface="Calibri" pitchFamily="34" charset="0"/>
                <a:ea typeface="Calibri" pitchFamily="34" charset="-122"/>
                <a:cs typeface="Calibri" pitchFamily="34" charset="-120"/>
              </a:rPr>
              <a:t>Weeks 2–4</a:t>
            </a:r>
            <a:endParaRPr lang="en-US" sz="1300" dirty="0"/>
          </a:p>
        </p:txBody>
      </p:sp>
      <p:sp>
        <p:nvSpPr>
          <p:cNvPr id="8" name="Text 6"/>
          <p:cNvSpPr/>
          <p:nvPr/>
        </p:nvSpPr>
        <p:spPr>
          <a:xfrm>
            <a:off x="2606040" y="2606040"/>
            <a:ext cx="8595360" cy="77724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Train and validate scream classifier (target 85%+ accuracy); implement DTW matching</a:t>
            </a:r>
            <a:endParaRPr lang="en-US" sz="1200" dirty="0"/>
          </a:p>
        </p:txBody>
      </p:sp>
      <p:sp>
        <p:nvSpPr>
          <p:cNvPr id="9" name="Shape 7"/>
          <p:cNvSpPr/>
          <p:nvPr/>
        </p:nvSpPr>
        <p:spPr>
          <a:xfrm>
            <a:off x="548640" y="3520440"/>
            <a:ext cx="10881360" cy="777240"/>
          </a:xfrm>
          <a:prstGeom prst="roundRect">
            <a:avLst>
              <a:gd name="adj" fmla="val 9412"/>
            </a:avLst>
          </a:prstGeom>
          <a:solidFill>
            <a:srgbClr val="E9EDF5"/>
          </a:solidFill>
          <a:ln/>
        </p:spPr>
      </p:sp>
      <p:sp>
        <p:nvSpPr>
          <p:cNvPr id="10" name="Text 8"/>
          <p:cNvSpPr/>
          <p:nvPr/>
        </p:nvSpPr>
        <p:spPr>
          <a:xfrm>
            <a:off x="777240" y="3520440"/>
            <a:ext cx="1737360" cy="777240"/>
          </a:xfrm>
          <a:prstGeom prst="rect">
            <a:avLst/>
          </a:prstGeom>
          <a:noFill/>
          <a:ln/>
        </p:spPr>
        <p:txBody>
          <a:bodyPr wrap="square" rtlCol="0" anchor="ctr"/>
          <a:lstStyle/>
          <a:p>
            <a:pPr indent="0" marL="0">
              <a:buNone/>
            </a:pPr>
            <a:r>
              <a:rPr lang="en-US" sz="1300" b="1" dirty="0">
                <a:solidFill>
                  <a:srgbClr val="E8593C"/>
                </a:solidFill>
                <a:latin typeface="Calibri" pitchFamily="34" charset="0"/>
                <a:ea typeface="Calibri" pitchFamily="34" charset="-122"/>
                <a:cs typeface="Calibri" pitchFamily="34" charset="-120"/>
              </a:rPr>
              <a:t>Weeks 4–6</a:t>
            </a:r>
            <a:endParaRPr lang="en-US" sz="1300" dirty="0"/>
          </a:p>
        </p:txBody>
      </p:sp>
      <p:sp>
        <p:nvSpPr>
          <p:cNvPr id="11" name="Text 9"/>
          <p:cNvSpPr/>
          <p:nvPr/>
        </p:nvSpPr>
        <p:spPr>
          <a:xfrm>
            <a:off x="2606040" y="3520440"/>
            <a:ext cx="8595360" cy="77724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Breadboard integration of all sensors; sensor-fusion logic gate testing</a:t>
            </a:r>
            <a:endParaRPr lang="en-US" sz="1200" dirty="0"/>
          </a:p>
        </p:txBody>
      </p:sp>
      <p:sp>
        <p:nvSpPr>
          <p:cNvPr id="12" name="Shape 10"/>
          <p:cNvSpPr/>
          <p:nvPr/>
        </p:nvSpPr>
        <p:spPr>
          <a:xfrm>
            <a:off x="548640" y="4434840"/>
            <a:ext cx="10881360" cy="777240"/>
          </a:xfrm>
          <a:prstGeom prst="roundRect">
            <a:avLst>
              <a:gd name="adj" fmla="val 9412"/>
            </a:avLst>
          </a:prstGeom>
          <a:solidFill>
            <a:srgbClr val="E9EDF5"/>
          </a:solidFill>
          <a:ln/>
        </p:spPr>
      </p:sp>
      <p:sp>
        <p:nvSpPr>
          <p:cNvPr id="13" name="Text 11"/>
          <p:cNvSpPr/>
          <p:nvPr/>
        </p:nvSpPr>
        <p:spPr>
          <a:xfrm>
            <a:off x="777240" y="4434840"/>
            <a:ext cx="1737360" cy="777240"/>
          </a:xfrm>
          <a:prstGeom prst="rect">
            <a:avLst/>
          </a:prstGeom>
          <a:noFill/>
          <a:ln/>
        </p:spPr>
        <p:txBody>
          <a:bodyPr wrap="square" rtlCol="0" anchor="ctr"/>
          <a:lstStyle/>
          <a:p>
            <a:pPr indent="0" marL="0">
              <a:buNone/>
            </a:pPr>
            <a:r>
              <a:rPr lang="en-US" sz="1300" b="1" dirty="0">
                <a:solidFill>
                  <a:srgbClr val="E8593C"/>
                </a:solidFill>
                <a:latin typeface="Calibri" pitchFamily="34" charset="0"/>
                <a:ea typeface="Calibri" pitchFamily="34" charset="-122"/>
                <a:cs typeface="Calibri" pitchFamily="34" charset="-120"/>
              </a:rPr>
              <a:t>3 months</a:t>
            </a:r>
            <a:endParaRPr lang="en-US" sz="1300" dirty="0"/>
          </a:p>
        </p:txBody>
      </p:sp>
      <p:sp>
        <p:nvSpPr>
          <p:cNvPr id="14" name="Text 12"/>
          <p:cNvSpPr/>
          <p:nvPr/>
        </p:nvSpPr>
        <p:spPr>
          <a:xfrm>
            <a:off x="2606040" y="4434840"/>
            <a:ext cx="8595360" cy="77724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Flex-PCB revision, enclosure prototyping, pilot with 20–30 users</a:t>
            </a:r>
            <a:endParaRPr lang="en-US" sz="1200" dirty="0"/>
          </a:p>
        </p:txBody>
      </p:sp>
      <p:sp>
        <p:nvSpPr>
          <p:cNvPr id="15" name="Shape 13"/>
          <p:cNvSpPr/>
          <p:nvPr/>
        </p:nvSpPr>
        <p:spPr>
          <a:xfrm>
            <a:off x="548640" y="5349240"/>
            <a:ext cx="10881360" cy="777240"/>
          </a:xfrm>
          <a:prstGeom prst="roundRect">
            <a:avLst>
              <a:gd name="adj" fmla="val 9412"/>
            </a:avLst>
          </a:prstGeom>
          <a:solidFill>
            <a:srgbClr val="E9EDF5"/>
          </a:solidFill>
          <a:ln/>
        </p:spPr>
      </p:sp>
      <p:sp>
        <p:nvSpPr>
          <p:cNvPr id="16" name="Text 14"/>
          <p:cNvSpPr/>
          <p:nvPr/>
        </p:nvSpPr>
        <p:spPr>
          <a:xfrm>
            <a:off x="777240" y="5349240"/>
            <a:ext cx="1737360" cy="777240"/>
          </a:xfrm>
          <a:prstGeom prst="rect">
            <a:avLst/>
          </a:prstGeom>
          <a:noFill/>
          <a:ln/>
        </p:spPr>
        <p:txBody>
          <a:bodyPr wrap="square" rtlCol="0" anchor="ctr"/>
          <a:lstStyle/>
          <a:p>
            <a:pPr indent="0" marL="0">
              <a:buNone/>
            </a:pPr>
            <a:r>
              <a:rPr lang="en-US" sz="1300" b="1" dirty="0">
                <a:solidFill>
                  <a:srgbClr val="E8593C"/>
                </a:solidFill>
                <a:latin typeface="Calibri" pitchFamily="34" charset="0"/>
                <a:ea typeface="Calibri" pitchFamily="34" charset="-122"/>
                <a:cs typeface="Calibri" pitchFamily="34" charset="-120"/>
              </a:rPr>
              <a:t>6–12 months</a:t>
            </a:r>
            <a:endParaRPr lang="en-US" sz="1300" dirty="0"/>
          </a:p>
        </p:txBody>
      </p:sp>
      <p:sp>
        <p:nvSpPr>
          <p:cNvPr id="17" name="Text 15"/>
          <p:cNvSpPr/>
          <p:nvPr/>
        </p:nvSpPr>
        <p:spPr>
          <a:xfrm>
            <a:off x="2606040" y="5349240"/>
            <a:ext cx="8595360" cy="777240"/>
          </a:xfrm>
          <a:prstGeom prst="rect">
            <a:avLst/>
          </a:prstGeom>
          <a:noFill/>
          <a:ln/>
        </p:spPr>
        <p:txBody>
          <a:bodyPr wrap="square" rtlCol="0" anchor="ctr"/>
          <a:lstStyle/>
          <a:p>
            <a:pPr indent="0" marL="0">
              <a:buNone/>
            </a:pPr>
            <a:r>
              <a:rPr lang="en-US" sz="1200" dirty="0">
                <a:solidFill>
                  <a:srgbClr val="1B2A4A"/>
                </a:solidFill>
                <a:latin typeface="Calibri" pitchFamily="34" charset="0"/>
                <a:ea typeface="Calibri" pitchFamily="34" charset="-122"/>
                <a:cs typeface="Calibri" pitchFamily="34" charset="-120"/>
              </a:rPr>
              <a:t>Manufacturing partner; monitored-backend escalation layer for safe police handoff</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2A3D63"/>
          </a:solidFill>
          <a:ln/>
        </p:spPr>
      </p:sp>
      <p:sp>
        <p:nvSpPr>
          <p:cNvPr id="3" name="Text 1"/>
          <p:cNvSpPr/>
          <p:nvPr/>
        </p:nvSpPr>
        <p:spPr>
          <a:xfrm>
            <a:off x="731520" y="2011680"/>
            <a:ext cx="10515600" cy="10058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Protection that doesn't wait for permission</a:t>
            </a:r>
            <a:endParaRPr lang="en-US" sz="3400" dirty="0"/>
          </a:p>
        </p:txBody>
      </p:sp>
      <p:sp>
        <p:nvSpPr>
          <p:cNvPr id="4" name="Text 2"/>
          <p:cNvSpPr/>
          <p:nvPr/>
        </p:nvSpPr>
        <p:spPr>
          <a:xfrm>
            <a:off x="777240" y="3017520"/>
            <a:ext cx="7955280" cy="914400"/>
          </a:xfrm>
          <a:prstGeom prst="rect">
            <a:avLst/>
          </a:prstGeom>
          <a:noFill/>
          <a:ln/>
        </p:spPr>
        <p:txBody>
          <a:bodyPr wrap="square" rtlCol="0" anchor="ctr"/>
          <a:lstStyle/>
          <a:p>
            <a:pPr indent="0" marL="0">
              <a:lnSpc>
                <a:spcPct val="135000"/>
              </a:lnSpc>
              <a:buNone/>
            </a:pPr>
            <a:r>
              <a:rPr lang="en-US" sz="1500" dirty="0">
                <a:solidFill>
                  <a:srgbClr val="E9EDF5"/>
                </a:solidFill>
                <a:latin typeface="Calibri" pitchFamily="34" charset="0"/>
                <a:ea typeface="Calibri" pitchFamily="34" charset="-122"/>
                <a:cs typeface="Calibri" pitchFamily="34" charset="-120"/>
              </a:rPr>
              <a:t>Raksha Band works the moment it's needed — no button, no app, no hesitation. Built to be affordable enough for institutional distribution, and intelligent enough to trust with a life.</a:t>
            </a:r>
            <a:endParaRPr lang="en-US" sz="1500" dirty="0"/>
          </a:p>
        </p:txBody>
      </p:sp>
      <p:sp>
        <p:nvSpPr>
          <p:cNvPr id="5" name="Shape 3"/>
          <p:cNvSpPr/>
          <p:nvPr/>
        </p:nvSpPr>
        <p:spPr>
          <a:xfrm>
            <a:off x="777240" y="4114800"/>
            <a:ext cx="502920" cy="54864"/>
          </a:xfrm>
          <a:prstGeom prst="rect">
            <a:avLst/>
          </a:prstGeom>
          <a:solidFill>
            <a:srgbClr val="E8593C"/>
          </a:solidFill>
          <a:ln/>
        </p:spPr>
      </p:sp>
      <p:sp>
        <p:nvSpPr>
          <p:cNvPr id="6" name="Text 4"/>
          <p:cNvSpPr/>
          <p:nvPr/>
        </p:nvSpPr>
        <p:spPr>
          <a:xfrm>
            <a:off x="777240" y="4389120"/>
            <a:ext cx="8229600" cy="457200"/>
          </a:xfrm>
          <a:prstGeom prst="rect">
            <a:avLst/>
          </a:prstGeom>
          <a:noFill/>
          <a:ln/>
        </p:spPr>
        <p:txBody>
          <a:bodyPr wrap="square" rtlCol="0" anchor="ctr"/>
          <a:lstStyle/>
          <a:p>
            <a:pPr indent="0" marL="0">
              <a:buNone/>
            </a:pPr>
            <a:r>
              <a:rPr lang="en-US" sz="1500" b="1" dirty="0">
                <a:solidFill>
                  <a:srgbClr val="E8593C"/>
                </a:solidFill>
                <a:latin typeface="Calibri" pitchFamily="34" charset="0"/>
                <a:ea typeface="Calibri" pitchFamily="34" charset="-122"/>
                <a:cs typeface="Calibri" pitchFamily="34" charset="-120"/>
              </a:rPr>
              <a:t>This is solvable. It deserves the resources to be built.</a:t>
            </a:r>
            <a:endParaRPr lang="en-US" sz="1500" dirty="0"/>
          </a:p>
        </p:txBody>
      </p:sp>
      <p:sp>
        <p:nvSpPr>
          <p:cNvPr id="7" name="Text 5"/>
          <p:cNvSpPr/>
          <p:nvPr/>
        </p:nvSpPr>
        <p:spPr>
          <a:xfrm>
            <a:off x="777240" y="4937760"/>
            <a:ext cx="5486400" cy="457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Thank you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2026-07-24T07:25:56Z</dcterms:created>
  <dcterms:modified xsi:type="dcterms:W3CDTF">2026-07-24T07:25:56Z</dcterms:modified>
</cp:coreProperties>
</file>